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4ADE2-0219-0466-6651-1B0D71410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CAE747-21E6-4A03-BC9C-4BE2E9089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57CFAE-A313-104F-5327-C7C523322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4B3EC-071B-8336-48DF-3C4E1B36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004EBB-54F9-D9CD-B19D-67374C29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7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5B08C-4A80-E6FD-42B8-31F4715D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FEF892-313F-0228-55D6-A17FD1FD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1BAE2E-370D-F8D3-261A-4D254E59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D99D7-10F2-63AC-1E30-163EB19E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7DAC5D-D79B-32C4-909C-9D36142F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53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E083E-5AF4-2723-952E-37BED05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2167E0-DD24-F0C3-1760-DFCC72EE4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885698-61CE-054B-00A7-C506772A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20F9E-8541-3AA3-1A4B-BE13F4E3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A0DC81-3E8E-C994-444C-DE37DA6B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19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2C0EF-AB60-C42D-FA56-7C970269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492FC-D04C-7CA7-0A3B-71F48510C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DDC169-791D-FD00-5798-4D208B2D7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188145-F395-7654-ABEF-8EC16A48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197F98-D9A7-0A76-DDBB-4C8AF260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D836BF-745C-10C3-8896-582C30B3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932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09B32-F8FF-FDFB-F28D-6F8B4A8D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C51FA7-AE07-E008-7A22-2B7E9A5A1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558A63-37EF-3409-1E2D-7692EEF76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24B29A-078A-5C41-474B-E3FF22D0F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ABF3D4-382D-5828-A3BA-CE8E6B996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4E000B-5AEE-A958-411E-890A6071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98C749-51F2-1133-CC29-05EA2B97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AB8A80-8033-4F01-4274-61AD8A43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55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D9D37-13C7-CEF4-9292-742CBB5A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3C0636-41D2-F009-4D89-F71F2657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A50703-0D52-F67F-7C0A-F4EFFE4A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7836DA-6FB6-00A8-4184-A4DDFDAC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00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B03E8E-7525-4E41-85C1-DA01D3B8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D5F82C-BDAE-36F0-F981-9AA44BC6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596F62-7FB3-A98F-BF9F-B14D1ACD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62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EEAA4-7A9D-EA40-C034-980E92DA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8894B-489C-C2EC-7B54-CE9BD538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F18ED4-982A-92CB-AF05-5D2B0C883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52E36E-F3DD-19E8-F249-5540578D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B98A4E-F6C2-2A9A-DBC5-4F372809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613120-DBD4-27A0-3679-574BE5AB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23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460B8-16DF-822A-6013-A85B8369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E9626A-5B6C-C636-75A5-9D4ED9B4B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8FC3BE-AE60-ABAE-94DD-04DC8811F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189B8F-360A-9168-2DFA-0971E306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B884FB-9721-5F65-4CFF-9ED5D5F8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DCA83A-F01C-16B5-F1A7-E15433B7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13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CF224-77E9-226B-20AE-F85738C4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8E9309-3248-20DE-FA4D-7EDE38A70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563CC1-9322-E19F-A46E-14997638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E66EAA-081D-1DAB-CAE4-63307675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1951C9-39CC-F20F-C50F-90F537B7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54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218756-27EF-5D98-6E92-B37E2B2D2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01EDA8-D26D-F5CE-1891-AF9152C2D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F41B24-926C-D165-F85F-FE7D3681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1ADD10-23EA-5990-CAF4-28E82F20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FF73C-21F5-662C-F5DE-6E1684B3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896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31BBF-C56D-FAC8-A978-FE8A1346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8A01DD-0BF4-5831-2DEC-101EF9F93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5BBA0E-3656-B7C4-EC09-B31A1B48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889ED8-97D8-E57F-B845-993268BF6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DF13AC-454D-F762-6C9B-5E7A7420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32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DABDD5-8C6A-A49F-93F7-0A0D5670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C92188-2A79-88EA-834F-B78B5A042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9C4B5-A84E-6227-CE4B-90880D939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A7525-21B2-4802-8B22-2D9AAC27BE03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137C52-4B41-0751-DAFF-257EEBBAE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CEAFCE-C943-97F3-BAD2-72A51B6F5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CA227-9A75-49D2-9F93-D21FEBB8F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91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C7CAE-757A-EB06-65C8-85FF6211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Bullets multiníveis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9B5F25-45CA-9752-3519-55635F537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Nível um</a:t>
            </a:r>
          </a:p>
          <a:p>
            <a:pPr lvl="1"/>
            <a:r>
              <a:rPr lang="pt-BR"/>
              <a:t>Nível dois</a:t>
            </a:r>
          </a:p>
          <a:p>
            <a:pPr lvl="2"/>
            <a:r>
              <a:rPr lang="pt-BR"/>
              <a:t>Nível três</a:t>
            </a:r>
          </a:p>
          <a:p>
            <a:pPr lvl="3"/>
            <a:r>
              <a:rPr lang="pt-BR"/>
              <a:t>Nível quatro</a:t>
            </a:r>
          </a:p>
          <a:p>
            <a:pPr lvl="4"/>
            <a:r>
              <a:rPr lang="pt-BR"/>
              <a:t>Nível cinco</a:t>
            </a:r>
          </a:p>
          <a:p>
            <a:r>
              <a:rPr lang="pt-BR"/>
              <a:t>De volta ao um</a:t>
            </a:r>
          </a:p>
        </p:txBody>
      </p:sp>
    </p:spTree>
    <p:extLst>
      <p:ext uri="{BB962C8B-B14F-4D97-AF65-F5344CB8AC3E}">
        <p14:creationId xmlns:p14="http://schemas.microsoft.com/office/powerpoint/2010/main" val="95635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0BD79E-F632-E7EA-044B-39A4179D50FF}"/>
              </a:ext>
            </a:extLst>
          </p:cNvPr>
          <p:cNvSpPr txBox="1"/>
          <p:nvPr/>
        </p:nvSpPr>
        <p:spPr>
          <a:xfrm>
            <a:off x="381000" y="254000"/>
            <a:ext cx="11430000" cy="22236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/>
              <a:t>Normal 18pt Calibri</a:t>
            </a:r>
          </a:p>
          <a:p>
            <a:r>
              <a:rPr lang="pt-BR" b="1"/>
              <a:t>Negrito </a:t>
            </a:r>
            <a:r>
              <a:rPr lang="pt-BR" i="1"/>
              <a:t>Itálico </a:t>
            </a:r>
            <a:r>
              <a:rPr lang="pt-BR" u="sng"/>
              <a:t>Sublinhado</a:t>
            </a:r>
          </a:p>
          <a:p>
            <a:r>
              <a:rPr lang="pt-BR" strike="sngStrike"/>
              <a:t>Tachado </a:t>
            </a:r>
            <a:r>
              <a:rPr lang="pt-BR"/>
              <a:t>e </a:t>
            </a:r>
            <a:r>
              <a:rPr lang="pt-BR" cap="small"/>
              <a:t>VERSALETE </a:t>
            </a:r>
            <a:r>
              <a:rPr lang="pt-BR"/>
              <a:t>e </a:t>
            </a:r>
            <a:r>
              <a:rPr lang="pt-BR" cap="all"/>
              <a:t>TUDO </a:t>
            </a:r>
            <a:r>
              <a:rPr lang="pt-BR"/>
              <a:t>MAIÚSCULO</a:t>
            </a:r>
          </a:p>
          <a:p>
            <a:r>
              <a:rPr lang="pt-BR"/>
              <a:t>Colorido </a:t>
            </a:r>
            <a:r>
              <a:rPr lang="pt-BR">
                <a:solidFill>
                  <a:srgbClr val="DC2828"/>
                </a:solidFill>
              </a:rPr>
              <a:t>vermelho </a:t>
            </a:r>
            <a:r>
              <a:rPr lang="pt-BR">
                <a:solidFill>
                  <a:srgbClr val="283CDC"/>
                </a:solidFill>
              </a:rPr>
              <a:t>azul </a:t>
            </a:r>
            <a:r>
              <a:rPr lang="pt-BR">
                <a:solidFill>
                  <a:srgbClr val="1EA046"/>
                </a:solidFill>
              </a:rPr>
              <a:t>verde</a:t>
            </a:r>
          </a:p>
          <a:p>
            <a:r>
              <a:rPr lang="pt-BR"/>
              <a:t>Fontes</a:t>
            </a:r>
            <a:r>
              <a:rPr lang="pt-BR">
                <a:latin typeface="Arial" panose="020B0604020202020204" pitchFamily="34" charset="0"/>
              </a:rPr>
              <a:t>: </a:t>
            </a:r>
            <a:r>
              <a:rPr lang="pt-BR"/>
              <a:t>Arial</a:t>
            </a:r>
            <a:r>
              <a:rPr lang="pt-BR">
                <a:latin typeface="Times New Roman" panose="02020603050405020304" pitchFamily="18" charset="0"/>
              </a:rPr>
              <a:t>, </a:t>
            </a:r>
            <a:r>
              <a:rPr lang="pt-BR"/>
              <a:t>Times New </a:t>
            </a:r>
            <a:r>
              <a:rPr lang="pt-BR">
                <a:latin typeface="Courier New" panose="02070309020205020404" pitchFamily="49" charset="0"/>
              </a:rPr>
              <a:t>Roman</a:t>
            </a:r>
            <a:r>
              <a:rPr lang="pt-BR"/>
              <a:t>, Courier </a:t>
            </a:r>
            <a:r>
              <a:rPr lang="pt-BR">
                <a:latin typeface="Segoe UI" panose="020B0502040204020203" pitchFamily="34" charset="0"/>
              </a:rPr>
              <a:t>New</a:t>
            </a:r>
            <a:r>
              <a:rPr lang="pt-BR"/>
              <a:t>, Segoe UI</a:t>
            </a:r>
          </a:p>
          <a:p>
            <a:r>
              <a:rPr lang="pt-BR"/>
              <a:t>Tamanhos</a:t>
            </a:r>
            <a:r>
              <a:rPr lang="pt-BR" sz="800"/>
              <a:t>: </a:t>
            </a:r>
            <a:r>
              <a:rPr lang="pt-BR" sz="1200"/>
              <a:t>8 </a:t>
            </a:r>
            <a:r>
              <a:rPr lang="pt-BR" sz="2000"/>
              <a:t>12 </a:t>
            </a:r>
            <a:r>
              <a:rPr lang="pt-BR" sz="3200"/>
              <a:t>20 </a:t>
            </a:r>
            <a:r>
              <a:rPr lang="pt-BR" sz="4400"/>
              <a:t>32 </a:t>
            </a:r>
            <a:r>
              <a:rPr lang="pt-BR"/>
              <a:t>44</a:t>
            </a:r>
          </a:p>
          <a:p>
            <a:r>
              <a:rPr lang="pt-BR"/>
              <a:t>Sub</a:t>
            </a:r>
            <a:r>
              <a:rPr lang="pt-BR" baseline="-25000"/>
              <a:t>­</a:t>
            </a:r>
            <a:r>
              <a:rPr lang="pt-BR"/>
              <a:t>script x2 </a:t>
            </a:r>
            <a:r>
              <a:rPr lang="pt-BR" baseline="30000"/>
              <a:t>e </a:t>
            </a:r>
            <a:r>
              <a:rPr lang="pt-BR"/>
              <a:t>superscript x²</a:t>
            </a:r>
          </a:p>
          <a:p>
            <a:r>
              <a:rPr lang="pt-BR" spc="300"/>
              <a:t>Espaçamento expandido entre letras</a:t>
            </a:r>
          </a:p>
        </p:txBody>
      </p:sp>
    </p:spTree>
    <p:extLst>
      <p:ext uri="{BB962C8B-B14F-4D97-AF65-F5344CB8AC3E}">
        <p14:creationId xmlns:p14="http://schemas.microsoft.com/office/powerpoint/2010/main" val="197138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5404E98-94B1-98A8-B4CB-3ABEF5330B02}"/>
              </a:ext>
            </a:extLst>
          </p:cNvPr>
          <p:cNvSpPr txBox="1"/>
          <p:nvPr/>
        </p:nvSpPr>
        <p:spPr>
          <a:xfrm>
            <a:off x="254000" y="254000"/>
            <a:ext cx="2730500" cy="300082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wrap="square" rtlCol="0">
            <a:spAutoFit/>
          </a:bodyPr>
          <a:lstStyle/>
          <a:p>
            <a:r>
              <a:rPr lang="pt-BR"/>
              <a:t>Alinhado à esquerda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42DB0B-1145-BC63-0069-420CA6F4AC28}"/>
              </a:ext>
            </a:extLst>
          </p:cNvPr>
          <p:cNvSpPr txBox="1"/>
          <p:nvPr/>
        </p:nvSpPr>
        <p:spPr>
          <a:xfrm>
            <a:off x="3175000" y="254000"/>
            <a:ext cx="2730500" cy="300082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pt-BR"/>
              <a:t>Alinhado à centro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AA7941-40B8-AD27-91F3-8C68592F1B36}"/>
              </a:ext>
            </a:extLst>
          </p:cNvPr>
          <p:cNvSpPr txBox="1"/>
          <p:nvPr/>
        </p:nvSpPr>
        <p:spPr>
          <a:xfrm>
            <a:off x="6096000" y="254000"/>
            <a:ext cx="2730500" cy="300082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wrap="square" rtlCol="0">
            <a:spAutoFit/>
          </a:bodyPr>
          <a:lstStyle/>
          <a:p>
            <a:pPr algn="r"/>
            <a:r>
              <a:rPr lang="pt-BR"/>
              <a:t>Alinhado à direita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9E5558-D6DB-8ECA-8B4E-C5611BF82A66}"/>
              </a:ext>
            </a:extLst>
          </p:cNvPr>
          <p:cNvSpPr txBox="1"/>
          <p:nvPr/>
        </p:nvSpPr>
        <p:spPr>
          <a:xfrm>
            <a:off x="9017000" y="254000"/>
            <a:ext cx="2730500" cy="715581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wrap="square" rtlCol="0">
            <a:spAutoFit/>
          </a:bodyPr>
          <a:lstStyle/>
          <a:p>
            <a:pPr algn="just"/>
            <a:r>
              <a:rPr lang="pt-BR"/>
              <a:t>Alinhado à justificado texto mais longo para ver a distribuição das palavras na linha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BC06066-F486-D2E3-D70B-049C3B2BB264}"/>
              </a:ext>
            </a:extLst>
          </p:cNvPr>
          <p:cNvSpPr/>
          <p:nvPr/>
        </p:nvSpPr>
        <p:spPr>
          <a:xfrm>
            <a:off x="254000" y="2032000"/>
            <a:ext cx="2730500" cy="1651000"/>
          </a:xfrm>
          <a:prstGeom prst="rect">
            <a:avLst/>
          </a:prstGeom>
          <a:solidFill>
            <a:srgbClr val="F0F0F5"/>
          </a:solidFill>
          <a:ln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>
                <a:solidFill>
                  <a:srgbClr val="1E1E1E"/>
                </a:solidFill>
              </a:rPr>
              <a:t>âncora topo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47148E2-918F-DEC3-456B-7E29F7E78699}"/>
              </a:ext>
            </a:extLst>
          </p:cNvPr>
          <p:cNvSpPr/>
          <p:nvPr/>
        </p:nvSpPr>
        <p:spPr>
          <a:xfrm>
            <a:off x="3175000" y="2032000"/>
            <a:ext cx="2730500" cy="1651000"/>
          </a:xfrm>
          <a:prstGeom prst="rect">
            <a:avLst/>
          </a:prstGeom>
          <a:solidFill>
            <a:srgbClr val="F0F0F5"/>
          </a:solidFill>
          <a:ln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1E1E1E"/>
                </a:solidFill>
              </a:rPr>
              <a:t>âncora meio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B5A4DC3-36E9-CED4-4E41-F454BE491B19}"/>
              </a:ext>
            </a:extLst>
          </p:cNvPr>
          <p:cNvSpPr/>
          <p:nvPr/>
        </p:nvSpPr>
        <p:spPr>
          <a:xfrm>
            <a:off x="6096000" y="2032000"/>
            <a:ext cx="2730500" cy="1651000"/>
          </a:xfrm>
          <a:prstGeom prst="rect">
            <a:avLst/>
          </a:prstGeom>
          <a:solidFill>
            <a:srgbClr val="F0F0F5"/>
          </a:solidFill>
          <a:ln>
            <a:solidFill>
              <a:srgbClr val="969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>
                <a:solidFill>
                  <a:srgbClr val="1E1E1E"/>
                </a:solidFill>
              </a:rPr>
              <a:t>âncora base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CD0331-B0F0-F28F-B24B-6EC9E128825E}"/>
              </a:ext>
            </a:extLst>
          </p:cNvPr>
          <p:cNvSpPr txBox="1"/>
          <p:nvPr/>
        </p:nvSpPr>
        <p:spPr>
          <a:xfrm>
            <a:off x="9144000" y="2032000"/>
            <a:ext cx="3080523" cy="300082"/>
          </a:xfrm>
          <a:prstGeom prst="rect">
            <a:avLst/>
          </a:prstGeom>
          <a:noFill/>
          <a:ln>
            <a:solidFill>
              <a:srgbClr val="C87878"/>
            </a:solidFill>
          </a:ln>
        </p:spPr>
        <p:txBody>
          <a:bodyPr vert="horz" wrap="none" rtlCol="0">
            <a:spAutoFit/>
          </a:bodyPr>
          <a:lstStyle/>
          <a:p>
            <a:r>
              <a:rPr lang="pt-BR"/>
              <a:t>Sem quebra: linha segue além da caixa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71150E7-4BFC-4389-C531-5196DF61188C}"/>
              </a:ext>
            </a:extLst>
          </p:cNvPr>
          <p:cNvSpPr/>
          <p:nvPr/>
        </p:nvSpPr>
        <p:spPr>
          <a:xfrm>
            <a:off x="254000" y="4064000"/>
            <a:ext cx="3810000" cy="1524000"/>
          </a:xfrm>
          <a:prstGeom prst="rect">
            <a:avLst/>
          </a:prstGeom>
          <a:solidFill>
            <a:srgbClr val="FFFAE6"/>
          </a:solidFill>
          <a:ln>
            <a:solidFill>
              <a:srgbClr val="C8A0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>
                <a:solidFill>
                  <a:srgbClr val="282828"/>
                </a:solidFill>
              </a:rPr>
              <a:t>Este texto é bem longo e deveria ENCOLHER automaticamente para caber na forma porque o autofit está em shrink-text-on-overflow. Lorem ipsum dolor sit amet, consectetur adipiscing elit, sed do eiusmod tempor incididunt ut labore.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9CE2B3-BA34-1446-3697-D2A86C198E88}"/>
              </a:ext>
            </a:extLst>
          </p:cNvPr>
          <p:cNvSpPr txBox="1"/>
          <p:nvPr/>
        </p:nvSpPr>
        <p:spPr>
          <a:xfrm>
            <a:off x="4445000" y="4064000"/>
            <a:ext cx="3556000" cy="1282915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rtlCol="0">
            <a:spAutoFit/>
          </a:bodyPr>
          <a:lstStyle/>
          <a:p>
            <a:r>
              <a:rPr lang="pt-BR"/>
              <a:t>Entrelinha 1.0</a:t>
            </a:r>
          </a:p>
          <a:p>
            <a:r>
              <a:rPr lang="pt-BR"/>
              <a:t>Entrelinha 1.0</a:t>
            </a:r>
          </a:p>
          <a:p>
            <a:pPr>
              <a:lnSpc>
                <a:spcPct val="200000"/>
              </a:lnSpc>
            </a:pPr>
            <a:r>
              <a:rPr lang="pt-BR"/>
              <a:t>Entrelinha 2.0</a:t>
            </a:r>
          </a:p>
          <a:p>
            <a:pPr>
              <a:lnSpc>
                <a:spcPct val="200000"/>
              </a:lnSpc>
            </a:pPr>
            <a:r>
              <a:rPr lang="pt-BR"/>
              <a:t>Entrelinha 2.0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4FF606B-3F76-5E51-6D42-A501B66A26CC}"/>
              </a:ext>
            </a:extLst>
          </p:cNvPr>
          <p:cNvSpPr/>
          <p:nvPr/>
        </p:nvSpPr>
        <p:spPr>
          <a:xfrm>
            <a:off x="8636000" y="4064000"/>
            <a:ext cx="1143000" cy="2159000"/>
          </a:xfrm>
          <a:prstGeom prst="rect">
            <a:avLst/>
          </a:prstGeom>
          <a:solidFill>
            <a:srgbClr val="E6F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rtlCol="0" anchor="ctr"/>
          <a:lstStyle/>
          <a:p>
            <a:pPr algn="ctr"/>
            <a:r>
              <a:rPr lang="pt-BR">
                <a:solidFill>
                  <a:srgbClr val="141414"/>
                </a:solidFill>
              </a:rPr>
              <a:t>Texto vertical</a:t>
            </a:r>
          </a:p>
        </p:txBody>
      </p:sp>
    </p:spTree>
    <p:extLst>
      <p:ext uri="{BB962C8B-B14F-4D97-AF65-F5344CB8AC3E}">
        <p14:creationId xmlns:p14="http://schemas.microsoft.com/office/powerpoint/2010/main" val="43353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C4B875-E0D7-319B-8411-67CBDC86CAC9}"/>
              </a:ext>
            </a:extLst>
          </p:cNvPr>
          <p:cNvSpPr txBox="1"/>
          <p:nvPr/>
        </p:nvSpPr>
        <p:spPr>
          <a:xfrm>
            <a:off x="381000" y="381000"/>
            <a:ext cx="5334000" cy="15465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342900">
              <a:buAutoNum type="alphaLcPeriod"/>
            </a:pPr>
            <a:r>
              <a:rPr lang="pt-BR"/>
              <a:t>Primeiro numerado</a:t>
            </a:r>
          </a:p>
          <a:p>
            <a:pPr indent="-342900">
              <a:buAutoNum type="alphaLcPeriod"/>
            </a:pPr>
            <a:r>
              <a:rPr lang="pt-BR"/>
              <a:t>Segundo numerado</a:t>
            </a:r>
          </a:p>
          <a:p>
            <a:pPr indent="-342900">
              <a:buAutoNum type="alphaLcPeriod"/>
            </a:pPr>
            <a:r>
              <a:rPr lang="pt-BR"/>
              <a:t>Terceiro numerado</a:t>
            </a:r>
          </a:p>
          <a:p>
            <a:pPr indent="-342900">
              <a:buAutoNum type="alphaLcPeriod"/>
            </a:pPr>
            <a:r>
              <a:rPr lang="pt-BR"/>
              <a:t>Quarto alfa</a:t>
            </a:r>
          </a:p>
          <a:p>
            <a:pPr indent="-342900">
              <a:buAutoNum type="alphaLcPeriod"/>
            </a:pPr>
            <a:r>
              <a:rPr lang="pt-BR"/>
              <a:t>Quinto alfa</a:t>
            </a:r>
          </a:p>
          <a:p>
            <a:pPr marL="57150" indent="-400050">
              <a:buAutoNum type="romanLcParenR"/>
            </a:pPr>
            <a:r>
              <a:rPr lang="pt-BR"/>
              <a:t>Romano um</a:t>
            </a:r>
          </a:p>
          <a:p>
            <a:pPr marL="57150" indent="-400050">
              <a:buAutoNum type="romanLcParenR"/>
            </a:pPr>
            <a:r>
              <a:rPr lang="pt-BR"/>
              <a:t>Romano dois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F4A770-63DA-8F6D-287A-E262E227BE09}"/>
              </a:ext>
            </a:extLst>
          </p:cNvPr>
          <p:cNvSpPr txBox="1"/>
          <p:nvPr/>
        </p:nvSpPr>
        <p:spPr>
          <a:xfrm>
            <a:off x="6350000" y="381000"/>
            <a:ext cx="533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buChar char="➢"/>
            </a:pPr>
            <a:r>
              <a:rPr lang="pt-BR"/>
              <a:t>Marcador seta</a:t>
            </a:r>
          </a:p>
          <a:p>
            <a:pPr indent="-285750">
              <a:buChar char="➢"/>
            </a:pPr>
            <a:r>
              <a:rPr lang="pt-BR"/>
              <a:t>Marcador seta</a:t>
            </a:r>
          </a:p>
          <a:p>
            <a:pPr indent="-285750">
              <a:buChar char="◆"/>
            </a:pPr>
            <a:r>
              <a:rPr lang="pt-BR"/>
              <a:t>Marcador losango</a:t>
            </a:r>
          </a:p>
          <a:p>
            <a:pPr indent="-285750">
              <a:buChar char="✔"/>
            </a:pPr>
            <a:r>
              <a:rPr lang="pt-BR"/>
              <a:t>Marcador check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6FC61F-B423-BDC3-E249-1C83371A2AF8}"/>
              </a:ext>
            </a:extLst>
          </p:cNvPr>
          <p:cNvSpPr txBox="1"/>
          <p:nvPr/>
        </p:nvSpPr>
        <p:spPr>
          <a:xfrm>
            <a:off x="381000" y="4445000"/>
            <a:ext cx="7112000" cy="946413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txBody>
          <a:bodyPr vert="horz" rtlCol="0">
            <a:spAutoFit/>
          </a:bodyPr>
          <a:lstStyle/>
          <a:p>
            <a:r>
              <a:rPr lang="pt-BR"/>
              <a:t>Parágrafo normal sem espaçamento</a:t>
            </a:r>
          </a:p>
          <a:p>
            <a:pPr>
              <a:spcBef>
                <a:spcPts val="1800"/>
              </a:spcBef>
            </a:pPr>
            <a:r>
              <a:rPr lang="pt-BR"/>
              <a:t>Com SpaceBefore 18pt</a:t>
            </a:r>
          </a:p>
          <a:p>
            <a:r>
              <a:rPr lang="pt-BR"/>
              <a:t>Com recuo de primeira linha maior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1A36D2-0E40-7034-7322-FEEC1726CEFC}"/>
              </a:ext>
            </a:extLst>
          </p:cNvPr>
          <p:cNvSpPr/>
          <p:nvPr/>
        </p:nvSpPr>
        <p:spPr>
          <a:xfrm>
            <a:off x="7874000" y="4826000"/>
            <a:ext cx="44594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Arial Black" panose="020B0A04020102020204" pitchFamily="34" charset="0"/>
              </a:rPr>
              <a:t>WordArt Stress</a:t>
            </a:r>
          </a:p>
        </p:txBody>
      </p:sp>
    </p:spTree>
    <p:extLst>
      <p:ext uri="{BB962C8B-B14F-4D97-AF65-F5344CB8AC3E}">
        <p14:creationId xmlns:p14="http://schemas.microsoft.com/office/powerpoint/2010/main" val="164795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Apresentação na tela (16:9)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Arial Black</vt:lpstr>
      <vt:lpstr>Courier New</vt:lpstr>
      <vt:lpstr>Segoe UI</vt:lpstr>
      <vt:lpstr>Times New Roman</vt:lpstr>
      <vt:lpstr>Tema do Office</vt:lpstr>
      <vt:lpstr>Bullets multiníveis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2026-07-25T08:05:59Z</dcterms:created>
  <dcterms:modified xsi:type="dcterms:W3CDTF">2026-07-25T08:05:59Z</dcterms:modified>
</cp:coreProperties>
</file>