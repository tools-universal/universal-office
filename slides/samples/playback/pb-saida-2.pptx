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</p:sldIdLst>
  <p:sldSz cx="12192000" cy="6858000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40" d="100"/>
          <a:sy n="40" d="100"/>
        </p:scale>
        <p:origin x="846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642D3D3-9717-E7E4-8C43-A2262F29A64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289BF141-6FE3-5522-D85B-E0DEF1C57F6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784C5CB1-B196-2EB9-0A61-B686C1BF16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0E571B-78F3-4963-9B2B-34BB4C6FF9BF}" type="datetimeFigureOut">
              <a:rPr lang="pt-BR" smtClean="0"/>
              <a:t>06/10/2026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05BD882B-1C01-C56A-1B12-E0EBEF5373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A09AD269-C762-6738-2AB1-CEFF978E0C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228B94-06B7-4B85-B0EA-40CB41BD0428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42735303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7358799-3779-06BD-E441-B794F3FFE0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9934E1B2-B346-5346-8F5D-7CD68530826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11CADE55-3870-0892-0761-EF46A8CC1F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0E571B-78F3-4963-9B2B-34BB4C6FF9BF}" type="datetimeFigureOut">
              <a:rPr lang="pt-BR" smtClean="0"/>
              <a:t>06/10/2026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20E130F5-FE18-4E02-D69B-9348EF351D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93C413B4-356B-83D0-FBD7-0F16A4A483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228B94-06B7-4B85-B0EA-40CB41BD0428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1721349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08B6A85-8FA2-E2E5-295C-0268B5793B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79232FF8-0A69-97C6-ED5A-6503903872F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42F6B277-7D01-97DD-2EDD-3F612D4840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0E571B-78F3-4963-9B2B-34BB4C6FF9BF}" type="datetimeFigureOut">
              <a:rPr lang="pt-BR" smtClean="0"/>
              <a:t>06/10/2026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7D88BE88-6217-D6CC-F528-8D801DC266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AE9CCF77-4D9E-CA99-EA32-FFA40A409B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228B94-06B7-4B85-B0EA-40CB41BD0428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3207090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691F72C-A71A-2DFC-931F-D523ED257B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97F6A81C-76AF-DF91-2116-6350C89BB71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F593113B-563D-EA97-BEB1-73FBE24FD7D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60ECE0D5-BD1D-2718-E5EC-5F1C93861E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0E571B-78F3-4963-9B2B-34BB4C6FF9BF}" type="datetimeFigureOut">
              <a:rPr lang="pt-BR" smtClean="0"/>
              <a:t>06/10/2026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248E45A0-348E-58B3-4C8F-7730F9F41B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F2F362A1-324E-4B0C-4FCE-36D3C995E3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228B94-06B7-4B85-B0EA-40CB41BD0428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07386369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E15C46D-E90B-7BE4-F200-7397CB71A2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EF0622AF-5E3A-C0F6-BFFA-148A598C7A2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B5A621F3-E447-7372-2092-DCBE6909CC4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FF4ABACE-E678-9C81-92BD-9955CA344CD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701A20F0-8691-7DC1-470B-206466A10DB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D7435A7B-15B9-FD0C-8F4C-2BB239C3E6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0E571B-78F3-4963-9B2B-34BB4C6FF9BF}" type="datetimeFigureOut">
              <a:rPr lang="pt-BR" smtClean="0"/>
              <a:t>06/10/2026</a:t>
            </a:fld>
            <a:endParaRPr lang="pt-BR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BE0DE499-683A-BA37-355F-354389BF02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12F22463-F2B2-6984-5E2E-7A7DA4AB63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228B94-06B7-4B85-B0EA-40CB41BD0428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12631401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C9745B2-9E19-B632-B836-4BAFA844F8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6A6766D8-1387-2299-2D54-626D66ECB8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0E571B-78F3-4963-9B2B-34BB4C6FF9BF}" type="datetimeFigureOut">
              <a:rPr lang="pt-BR" smtClean="0"/>
              <a:t>06/10/2026</a:t>
            </a:fld>
            <a:endParaRPr 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53F7E93C-B22E-9204-E10E-223DE67BB3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78A5C3A5-5A8D-F9E6-1622-65587F6664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228B94-06B7-4B85-B0EA-40CB41BD0428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71349728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5E2A8B93-B0D2-E8CA-7667-DDDD81AD12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0E571B-78F3-4963-9B2B-34BB4C6FF9BF}" type="datetimeFigureOut">
              <a:rPr lang="pt-BR" smtClean="0"/>
              <a:t>06/10/2026</a:t>
            </a:fld>
            <a:endParaRPr lang="pt-BR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F1095AED-7504-3A46-EE4B-871BA2C37F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8FE71FA4-CC77-5D71-F7BC-9D5EAB1E41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228B94-06B7-4B85-B0EA-40CB41BD0428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70881046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AD66D8E-3D10-7D0E-2B3F-38968907A7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173F0B91-62C0-E71E-9ECE-1411B859735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FDA22E10-0D82-2109-9054-955F479E6C4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7ABC02F7-057F-BA8F-52A0-2F2A661408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0E571B-78F3-4963-9B2B-34BB4C6FF9BF}" type="datetimeFigureOut">
              <a:rPr lang="pt-BR" smtClean="0"/>
              <a:t>06/10/2026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1D6236AB-A957-9AA5-655C-24B59A1A74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B4544C8F-DB6E-B03E-E58B-AA702A2BAE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228B94-06B7-4B85-B0EA-40CB41BD0428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27004341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7343801-4097-B707-72EC-71F4630871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1377B157-109C-BEBB-6E16-D162FD11C100}"/>
              </a:ext>
            </a:extLst>
          </p:cNvPr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B6CF422C-96A1-78E0-7325-C623DA192C0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D0BCFC90-668A-545C-503D-7600F7CBEA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0E571B-78F3-4963-9B2B-34BB4C6FF9BF}" type="datetimeFigureOut">
              <a:rPr lang="pt-BR" smtClean="0"/>
              <a:t>06/10/2026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B07C1028-14F7-C136-6176-D43CF16573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AF285D35-4EF7-230D-C9AD-75EF41BEAA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228B94-06B7-4B85-B0EA-40CB41BD0428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52869680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1E945C3-904C-299A-2508-079C00B94D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8FE35683-8491-D86F-6C74-3DE6DD62A73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B27236B3-427D-8157-4FB4-E7865BB26D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0E571B-78F3-4963-9B2B-34BB4C6FF9BF}" type="datetimeFigureOut">
              <a:rPr lang="pt-BR" smtClean="0"/>
              <a:t>06/10/2026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F55551C0-1EF8-6189-A096-DDB39FD960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D055F4B5-1081-6F82-D7D0-FA7A6C2128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228B94-06B7-4B85-B0EA-40CB41BD0428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20296352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AF48770D-E95F-AFD9-C6DE-698331532FB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F7C8E602-A821-0103-F081-149A34E4724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683DF34F-894B-2B7A-8A02-39FA897D80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0E571B-78F3-4963-9B2B-34BB4C6FF9BF}" type="datetimeFigureOut">
              <a:rPr lang="pt-BR" smtClean="0"/>
              <a:t>06/10/2026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663B7D62-4F38-A01D-2FA5-F22548660F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3FFFDCF1-71C4-423F-1AB8-F0CA67D908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228B94-06B7-4B85-B0EA-40CB41BD0428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17820444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>
            <a:extLst>
              <a:ext uri="{FF2B5EF4-FFF2-40B4-BE49-F238E27FC236}">
                <a16:creationId xmlns:a16="http://schemas.microsoft.com/office/drawing/2014/main" id="{A9CA7100-1D33-0FD2-A2C8-36A4903276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43E46E74-1E09-5956-4D68-80271FC5035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A944F122-D34E-4B39-DFDE-09D9057D497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80E571B-78F3-4963-9B2B-34BB4C6FF9BF}" type="datetimeFigureOut">
              <a:rPr lang="pt-BR" smtClean="0"/>
              <a:t>06/10/2026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747011FE-68CA-4A01-B881-C76C8A4B7A9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35097F3D-51D0-AC14-C499-4B0075E87B6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4228B94-06B7-4B85-B0EA-40CB41BD0428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24275675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4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ulo">
            <a:extLst>
              <a:ext uri="{FF2B5EF4-FFF2-40B4-BE49-F238E27FC236}">
                <a16:creationId xmlns:a16="http://schemas.microsoft.com/office/drawing/2014/main" id="{D43E620B-6E98-D849-4BD6-B44E17D2AE42}"/>
              </a:ext>
            </a:extLst>
          </p:cNvPr>
          <p:cNvSpPr txBox="1"/>
          <p:nvPr/>
        </p:nvSpPr>
        <p:spPr>
          <a:xfrm>
            <a:off x="381000" y="203200"/>
            <a:ext cx="11430000" cy="52322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pt-BR" sz="2800" b="1">
                <a:solidFill>
                  <a:srgbClr val="1E1E1E"/>
                </a:solidFill>
              </a:rPr>
              <a:t>Saída 1</a:t>
            </a:r>
          </a:p>
        </p:txBody>
      </p:sp>
      <p:sp>
        <p:nvSpPr>
          <p:cNvPr id="3" name="Retângulo: Cantos Arredondados 2">
            <a:extLst>
              <a:ext uri="{FF2B5EF4-FFF2-40B4-BE49-F238E27FC236}">
                <a16:creationId xmlns:a16="http://schemas.microsoft.com/office/drawing/2014/main" id="{878FEF20-F576-7E78-BDCD-47FCD4D290E2}"/>
              </a:ext>
            </a:extLst>
          </p:cNvPr>
          <p:cNvSpPr/>
          <p:nvPr/>
        </p:nvSpPr>
        <p:spPr>
          <a:xfrm>
            <a:off x="381000" y="1270000"/>
            <a:ext cx="3556000" cy="2159000"/>
          </a:xfrm>
          <a:prstGeom prst="roundRect">
            <a:avLst/>
          </a:prstGeom>
          <a:solidFill>
            <a:srgbClr val="C0392B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b="1">
                <a:solidFill>
                  <a:srgbClr val="FFFFFF"/>
                </a:solidFill>
              </a:rPr>
              <a:t>Esticar</a:t>
            </a:r>
          </a:p>
        </p:txBody>
      </p:sp>
      <p:sp>
        <p:nvSpPr>
          <p:cNvPr id="4" name="Retângulo: Cantos Arredondados 3">
            <a:extLst>
              <a:ext uri="{FF2B5EF4-FFF2-40B4-BE49-F238E27FC236}">
                <a16:creationId xmlns:a16="http://schemas.microsoft.com/office/drawing/2014/main" id="{F24C72FD-F571-0FD7-AF3F-3C980EB72EBF}"/>
              </a:ext>
            </a:extLst>
          </p:cNvPr>
          <p:cNvSpPr/>
          <p:nvPr/>
        </p:nvSpPr>
        <p:spPr>
          <a:xfrm>
            <a:off x="4318000" y="1270000"/>
            <a:ext cx="3556000" cy="2159000"/>
          </a:xfrm>
          <a:prstGeom prst="roundRect">
            <a:avLst/>
          </a:prstGeom>
          <a:solidFill>
            <a:srgbClr val="2980B9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b="1">
                <a:solidFill>
                  <a:srgbClr val="FFFFFF"/>
                </a:solidFill>
              </a:rPr>
              <a:t>Bumerangue</a:t>
            </a:r>
          </a:p>
        </p:txBody>
      </p:sp>
      <p:sp>
        <p:nvSpPr>
          <p:cNvPr id="5" name="Retângulo: Cantos Arredondados 4">
            <a:extLst>
              <a:ext uri="{FF2B5EF4-FFF2-40B4-BE49-F238E27FC236}">
                <a16:creationId xmlns:a16="http://schemas.microsoft.com/office/drawing/2014/main" id="{34E2B567-EC80-3BE3-EA72-2D0925FCB7C8}"/>
              </a:ext>
            </a:extLst>
          </p:cNvPr>
          <p:cNvSpPr/>
          <p:nvPr/>
        </p:nvSpPr>
        <p:spPr>
          <a:xfrm>
            <a:off x="8255000" y="1270000"/>
            <a:ext cx="3556000" cy="2159000"/>
          </a:xfrm>
          <a:prstGeom prst="roundRect">
            <a:avLst/>
          </a:prstGeom>
          <a:solidFill>
            <a:srgbClr val="27AE6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b="1">
                <a:solidFill>
                  <a:srgbClr val="FFFFFF"/>
                </a:solidFill>
              </a:rPr>
              <a:t>Revelar cor</a:t>
            </a:r>
          </a:p>
        </p:txBody>
      </p:sp>
      <p:sp>
        <p:nvSpPr>
          <p:cNvPr id="6" name="Retângulo: Cantos Arredondados 5">
            <a:extLst>
              <a:ext uri="{FF2B5EF4-FFF2-40B4-BE49-F238E27FC236}">
                <a16:creationId xmlns:a16="http://schemas.microsoft.com/office/drawing/2014/main" id="{DCBCDD77-C5E3-4231-513A-2675F252E8EF}"/>
              </a:ext>
            </a:extLst>
          </p:cNvPr>
          <p:cNvSpPr/>
          <p:nvPr/>
        </p:nvSpPr>
        <p:spPr>
          <a:xfrm>
            <a:off x="381000" y="4000500"/>
            <a:ext cx="3556000" cy="2159000"/>
          </a:xfrm>
          <a:prstGeom prst="roundRect">
            <a:avLst/>
          </a:prstGeom>
          <a:solidFill>
            <a:srgbClr val="8E44AD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b="1">
                <a:solidFill>
                  <a:srgbClr val="FFFFFF"/>
                </a:solidFill>
              </a:rPr>
              <a:t>Atenuar</a:t>
            </a:r>
          </a:p>
        </p:txBody>
      </p:sp>
      <p:sp>
        <p:nvSpPr>
          <p:cNvPr id="7" name="Retângulo: Cantos Arredondados 6">
            <a:extLst>
              <a:ext uri="{FF2B5EF4-FFF2-40B4-BE49-F238E27FC236}">
                <a16:creationId xmlns:a16="http://schemas.microsoft.com/office/drawing/2014/main" id="{4A6D51BE-E62C-45A7-4559-2544CE1FCA82}"/>
              </a:ext>
            </a:extLst>
          </p:cNvPr>
          <p:cNvSpPr/>
          <p:nvPr/>
        </p:nvSpPr>
        <p:spPr>
          <a:xfrm>
            <a:off x="4318000" y="4000500"/>
            <a:ext cx="3556000" cy="2159000"/>
          </a:xfrm>
          <a:prstGeom prst="roundRect">
            <a:avLst/>
          </a:prstGeom>
          <a:solidFill>
            <a:srgbClr val="F39C12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b="1">
                <a:solidFill>
                  <a:srgbClr val="FFFFFF"/>
                </a:solidFill>
              </a:rPr>
              <a:t>Velocidade da luz</a:t>
            </a:r>
          </a:p>
        </p:txBody>
      </p:sp>
      <p:sp>
        <p:nvSpPr>
          <p:cNvPr id="8" name="Retângulo: Cantos Arredondados 7">
            <a:extLst>
              <a:ext uri="{FF2B5EF4-FFF2-40B4-BE49-F238E27FC236}">
                <a16:creationId xmlns:a16="http://schemas.microsoft.com/office/drawing/2014/main" id="{FDAAC2AF-D019-E014-72D4-28167D4F35DB}"/>
              </a:ext>
            </a:extLst>
          </p:cNvPr>
          <p:cNvSpPr/>
          <p:nvPr/>
        </p:nvSpPr>
        <p:spPr>
          <a:xfrm>
            <a:off x="8255000" y="4000500"/>
            <a:ext cx="3556000" cy="2159000"/>
          </a:xfrm>
          <a:prstGeom prst="roundRect">
            <a:avLst/>
          </a:prstGeom>
          <a:solidFill>
            <a:srgbClr val="16A085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b="1">
                <a:solidFill>
                  <a:srgbClr val="FFFFFF"/>
                </a:solidFill>
              </a:rPr>
              <a:t>Cata-vento</a:t>
            </a:r>
          </a:p>
        </p:txBody>
      </p:sp>
    </p:spTree>
    <p:extLst>
      <p:ext uri="{BB962C8B-B14F-4D97-AF65-F5344CB8AC3E}">
        <p14:creationId xmlns:p14="http://schemas.microsoft.com/office/powerpoint/2010/main" val="1367744255"/>
      </p:ext>
    </p:extLst>
  </p:cSld>
  <p:clrMapOvr>
    <a:masterClrMapping/>
  </p:clrMapOvr>
  <p:transition advTm="10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7" presetClass="exit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6" dur="500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strVal val="ppt_h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500"/>
                            </p:stCondLst>
                            <p:childTnLst>
                              <p:par>
                                <p:cTn id="10" presetID="25" presetClass="exit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1" dur="1000" accel="500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" dur="500" accel="500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+.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decel="50000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-.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500" accel="50000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+.4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1000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strVal val="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500" accel="500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strVal val="ppt_w*.0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500" decel="50000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strVal val="ppt_w/.0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accel="50000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-90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1500"/>
                            </p:stCondLst>
                            <p:childTnLst>
                              <p:par>
                                <p:cTn id="21" presetID="27" presetClass="exit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50000"/>
                                  </p:iterate>
                                  <p:childTnLst>
                                    <p:anim calcmode="discrete" valueType="clr">
                                      <p:cBhvr override="childStyle">
                                        <p:cTn id="22" dur="80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anim calcmode="discrete" valueType="clr">
                                      <p:cBhvr>
                                        <p:cTn id="23" dur="80"/>
                                        <p:tgtEl>
                                          <p:spTgt spid="5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24" dur="80"/>
                                        <p:tgtEl>
                                          <p:spTgt spid="5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79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1940"/>
                            </p:stCondLst>
                            <p:childTnLst>
                              <p:par>
                                <p:cTn id="27" presetID="29" presetClass="exit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28" dur="1000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-.2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30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2940"/>
                            </p:stCondLst>
                            <p:childTnLst>
                              <p:par>
                                <p:cTn id="33" presetID="34" presetClass="exit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 from="(ppt_x)" to="(ppt_x+1)" calcmode="lin" valueType="num">
                                      <p:cBhvr>
                                        <p:cTn id="34" dur="10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  <p:anim from="0" to="-1.0" calcmode="lin" valueType="num">
                                      <p:cBhvr>
                                        <p:cTn id="35" dur="200" accel="500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xshear</p:attrName>
                                        </p:attrNameLst>
                                      </p:cBhvr>
                                    </p:anim>
                                    <p:set>
                                      <p:cBhvr>
                                        <p:cTn id="36" dur="800">
                                          <p:stCondLst>
                                            <p:cond delay="20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xshear</p:attrName>
                                        </p:attrNameLst>
                                      </p:cBhvr>
                                      <p:to>
                                        <p:strVal val="-1.0"/>
                                      </p:to>
                                    </p:se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>
                            <p:stCondLst>
                              <p:cond delay="3940"/>
                            </p:stCondLst>
                            <p:childTnLst>
                              <p:par>
                                <p:cTn id="39" presetID="35" presetClass="exit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0" dur="2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1" dur="2000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72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" dur="2000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2000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4" grpId="0" animBg="1"/>
      <p:bldP spid="5" grpId="0" animBg="1"/>
      <p:bldP spid="6" grpId="0" animBg="1"/>
      <p:bldP spid="7" grpId="0" animBg="1"/>
      <p:bldP spid="8" grpId="0" animBg="1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4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ulo">
            <a:extLst>
              <a:ext uri="{FF2B5EF4-FFF2-40B4-BE49-F238E27FC236}">
                <a16:creationId xmlns:a16="http://schemas.microsoft.com/office/drawing/2014/main" id="{917A8A89-0F64-5673-FA2E-8EC28D346C1F}"/>
              </a:ext>
            </a:extLst>
          </p:cNvPr>
          <p:cNvSpPr txBox="1"/>
          <p:nvPr/>
        </p:nvSpPr>
        <p:spPr>
          <a:xfrm>
            <a:off x="381000" y="203200"/>
            <a:ext cx="11430000" cy="52322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pt-BR" sz="2800" b="1">
                <a:solidFill>
                  <a:srgbClr val="1E1E1E"/>
                </a:solidFill>
              </a:rPr>
              <a:t>Saída 2</a:t>
            </a:r>
          </a:p>
        </p:txBody>
      </p:sp>
      <p:sp>
        <p:nvSpPr>
          <p:cNvPr id="3" name="Retângulo: Cantos Arredondados 2">
            <a:extLst>
              <a:ext uri="{FF2B5EF4-FFF2-40B4-BE49-F238E27FC236}">
                <a16:creationId xmlns:a16="http://schemas.microsoft.com/office/drawing/2014/main" id="{9BCD329A-B771-BFB9-EDF3-CA62C394B7F0}"/>
              </a:ext>
            </a:extLst>
          </p:cNvPr>
          <p:cNvSpPr/>
          <p:nvPr/>
        </p:nvSpPr>
        <p:spPr>
          <a:xfrm>
            <a:off x="381000" y="1270000"/>
            <a:ext cx="3556000" cy="2159000"/>
          </a:xfrm>
          <a:prstGeom prst="roundRect">
            <a:avLst/>
          </a:prstGeom>
          <a:solidFill>
            <a:srgbClr val="2C3E5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b="1">
                <a:solidFill>
                  <a:srgbClr val="FFFFFF"/>
                </a:solidFill>
              </a:rPr>
              <a:t>Afundar</a:t>
            </a:r>
          </a:p>
        </p:txBody>
      </p:sp>
      <p:sp>
        <p:nvSpPr>
          <p:cNvPr id="4" name="Retângulo: Cantos Arredondados 3">
            <a:extLst>
              <a:ext uri="{FF2B5EF4-FFF2-40B4-BE49-F238E27FC236}">
                <a16:creationId xmlns:a16="http://schemas.microsoft.com/office/drawing/2014/main" id="{8D0FFFD3-C799-D0EF-19F9-00EA1850705D}"/>
              </a:ext>
            </a:extLst>
          </p:cNvPr>
          <p:cNvSpPr/>
          <p:nvPr/>
        </p:nvSpPr>
        <p:spPr>
          <a:xfrm>
            <a:off x="4318000" y="1270000"/>
            <a:ext cx="3556000" cy="2159000"/>
          </a:xfrm>
          <a:prstGeom prst="roundRect">
            <a:avLst/>
          </a:prstGeom>
          <a:solidFill>
            <a:srgbClr val="D3540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b="1">
                <a:solidFill>
                  <a:srgbClr val="FFFFFF"/>
                </a:solidFill>
              </a:rPr>
              <a:t>Assobio</a:t>
            </a:r>
          </a:p>
        </p:txBody>
      </p:sp>
      <p:sp>
        <p:nvSpPr>
          <p:cNvPr id="5" name="Retângulo: Cantos Arredondados 4">
            <a:extLst>
              <a:ext uri="{FF2B5EF4-FFF2-40B4-BE49-F238E27FC236}">
                <a16:creationId xmlns:a16="http://schemas.microsoft.com/office/drawing/2014/main" id="{F2CC0710-56DC-E0F0-AE68-08E98A6DD8DD}"/>
              </a:ext>
            </a:extLst>
          </p:cNvPr>
          <p:cNvSpPr/>
          <p:nvPr/>
        </p:nvSpPr>
        <p:spPr>
          <a:xfrm>
            <a:off x="8255000" y="1270000"/>
            <a:ext cx="3556000" cy="2159000"/>
          </a:xfrm>
          <a:prstGeom prst="roundRect">
            <a:avLst/>
          </a:prstGeom>
          <a:solidFill>
            <a:srgbClr val="7F8C8D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b="1">
                <a:solidFill>
                  <a:srgbClr val="FFFFFF"/>
                </a:solidFill>
              </a:rPr>
              <a:t>Linha fina</a:t>
            </a:r>
          </a:p>
        </p:txBody>
      </p:sp>
      <p:sp>
        <p:nvSpPr>
          <p:cNvPr id="6" name="Retângulo: Cantos Arredondados 5">
            <a:extLst>
              <a:ext uri="{FF2B5EF4-FFF2-40B4-BE49-F238E27FC236}">
                <a16:creationId xmlns:a16="http://schemas.microsoft.com/office/drawing/2014/main" id="{75F1A144-4399-6120-6890-DBE7EA938EA9}"/>
              </a:ext>
            </a:extLst>
          </p:cNvPr>
          <p:cNvSpPr/>
          <p:nvPr/>
        </p:nvSpPr>
        <p:spPr>
          <a:xfrm>
            <a:off x="381000" y="4000500"/>
            <a:ext cx="3556000" cy="2159000"/>
          </a:xfrm>
          <a:prstGeom prst="roundRect">
            <a:avLst/>
          </a:prstGeom>
          <a:solidFill>
            <a:srgbClr val="34495E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b="1">
                <a:solidFill>
                  <a:srgbClr val="FFFFFF"/>
                </a:solidFill>
              </a:rPr>
              <a:t>Desdobrar</a:t>
            </a:r>
          </a:p>
        </p:txBody>
      </p:sp>
      <p:sp>
        <p:nvSpPr>
          <p:cNvPr id="7" name="Retângulo: Cantos Arredondados 6">
            <a:extLst>
              <a:ext uri="{FF2B5EF4-FFF2-40B4-BE49-F238E27FC236}">
                <a16:creationId xmlns:a16="http://schemas.microsoft.com/office/drawing/2014/main" id="{46DD9EA9-985E-E81D-5F88-454A2EC94D4E}"/>
              </a:ext>
            </a:extLst>
          </p:cNvPr>
          <p:cNvSpPr/>
          <p:nvPr/>
        </p:nvSpPr>
        <p:spPr>
          <a:xfrm>
            <a:off x="4318000" y="4000500"/>
            <a:ext cx="3556000" cy="2159000"/>
          </a:xfrm>
          <a:prstGeom prst="roundRect">
            <a:avLst/>
          </a:prstGeom>
          <a:solidFill>
            <a:srgbClr val="E74C3C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b="1">
                <a:solidFill>
                  <a:srgbClr val="FFFFFF"/>
                </a:solidFill>
              </a:rPr>
              <a:t>Chicote</a:t>
            </a:r>
          </a:p>
        </p:txBody>
      </p:sp>
      <p:sp>
        <p:nvSpPr>
          <p:cNvPr id="8" name="Retângulo: Cantos Arredondados 7">
            <a:extLst>
              <a:ext uri="{FF2B5EF4-FFF2-40B4-BE49-F238E27FC236}">
                <a16:creationId xmlns:a16="http://schemas.microsoft.com/office/drawing/2014/main" id="{0CF46924-AA12-73C8-89A4-9A2413A3C9E7}"/>
              </a:ext>
            </a:extLst>
          </p:cNvPr>
          <p:cNvSpPr/>
          <p:nvPr/>
        </p:nvSpPr>
        <p:spPr>
          <a:xfrm>
            <a:off x="8255000" y="4000500"/>
            <a:ext cx="3556000" cy="2159000"/>
          </a:xfrm>
          <a:prstGeom prst="roundRect">
            <a:avLst/>
          </a:prstGeom>
          <a:solidFill>
            <a:srgbClr val="1ABC9C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b="1">
                <a:solidFill>
                  <a:srgbClr val="FFFFFF"/>
                </a:solidFill>
              </a:rPr>
              <a:t>Revolução central</a:t>
            </a:r>
          </a:p>
        </p:txBody>
      </p:sp>
    </p:spTree>
    <p:extLst>
      <p:ext uri="{BB962C8B-B14F-4D97-AF65-F5344CB8AC3E}">
        <p14:creationId xmlns:p14="http://schemas.microsoft.com/office/powerpoint/2010/main" val="671824008"/>
      </p:ext>
    </p:extLst>
  </p:cSld>
  <p:clrMapOvr>
    <a:masterClrMapping/>
  </p:clrMapOvr>
  <p:transition advTm="10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7" presetClass="exit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" dur="1000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" decel="100000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900" accel="100000">
                                          <p:stCondLst>
                                            <p:cond delay="10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+1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1000"/>
                            </p:stCondLst>
                            <p:childTnLst>
                              <p:par>
                                <p:cTn id="12" presetID="38" presetClass="exit" presetSubtype="0" accel="5000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50000"/>
                                  </p:iterate>
                                  <p:childTnLst>
                                    <p:anim calcmode="lin" valueType="num">
                                      <p:cBhvr>
                                        <p:cTn id="13" dur="10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4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+1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5000"/>
                            </p:stCondLst>
                            <p:childTnLst>
                              <p:par>
                                <p:cTn id="17" presetID="39" presetClass="exit" presetSubtype="0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18" dur="500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50000">
                                          <p:val>
                                            <p:strVal val="ppt_h/20"/>
                                          </p:val>
                                        </p:tav>
                                        <p:tav tm="100000">
                                          <p:val>
                                            <p:strVal val="ppt_h/2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500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50000">
                                          <p:val>
                                            <p:strVal val="ppt_w+.3"/>
                                          </p:val>
                                        </p:tav>
                                        <p:tav tm="100000">
                                          <p:val>
                                            <p:strVal val="ppt_w+.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5000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-.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500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5500"/>
                            </p:stCondLst>
                            <p:childTnLst>
                              <p:par>
                                <p:cTn id="24" presetID="40" presetClass="exit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animEffect transition="out" filter="fade">
                                      <p:cBhvr>
                                        <p:cTn id="25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6" dur="1000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-.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1000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7300"/>
                            </p:stCondLst>
                            <p:childTnLst>
                              <p:par>
                                <p:cTn id="30" presetID="41" presetClass="exit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anim calcmode="lin" valueType="num">
                                      <p:cBhvr>
                                        <p:cTn id="31" dur="500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50000">
                                          <p:val>
                                            <p:strVal val="ppt_x+.1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500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500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50000">
                                          <p:val>
                                            <p:strVal val="ppt_h+.01"/>
                                          </p:val>
                                        </p:tav>
                                        <p:tav tm="100000">
                                          <p:val>
                                            <p:strVal val="ppt_h/1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500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50000">
                                          <p:val>
                                            <p:strVal val="ppt_w+.01"/>
                                          </p:val>
                                        </p:tav>
                                        <p:tav tm="100000">
                                          <p:val>
                                            <p:strVal val="ppt_w/1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35" dur="500" tmFilter="0,0; .5, 0; 1, 1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>
                            <p:stCondLst>
                              <p:cond delay="8100"/>
                            </p:stCondLst>
                            <p:childTnLst>
                              <p:par>
                                <p:cTn id="38" presetID="43" presetClass="exit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39" dur="600" decel="500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5000">
                                          <p:val>
                                            <p:strVal val="ppt_x+0.0242"/>
                                          </p:val>
                                        </p:tav>
                                        <p:tav tm="10000">
                                          <p:val>
                                            <p:strVal val="ppt_x+0.0479"/>
                                          </p:val>
                                        </p:tav>
                                        <p:tav tm="15000">
                                          <p:val>
                                            <p:strVal val="ppt_x+0.0704"/>
                                          </p:val>
                                        </p:tav>
                                        <p:tav tm="20000">
                                          <p:val>
                                            <p:strVal val="ppt_x+0.0911"/>
                                          </p:val>
                                        </p:tav>
                                        <p:tav tm="25000">
                                          <p:val>
                                            <p:strVal val="ppt_x+0.1096"/>
                                          </p:val>
                                        </p:tav>
                                        <p:tav tm="30000">
                                          <p:val>
                                            <p:strVal val="ppt_x+0.1254"/>
                                          </p:val>
                                        </p:tav>
                                        <p:tav tm="35000">
                                          <p:val>
                                            <p:strVal val="ppt_x+0.1381"/>
                                          </p:val>
                                        </p:tav>
                                        <p:tav tm="40000">
                                          <p:val>
                                            <p:strVal val="ppt_x+0.1474"/>
                                          </p:val>
                                        </p:tav>
                                        <p:tav tm="45000">
                                          <p:val>
                                            <p:strVal val="ppt_x+0.1531"/>
                                          </p:val>
                                        </p:tav>
                                        <p:tav tm="50000">
                                          <p:val>
                                            <p:strVal val="ppt_x+0.155"/>
                                          </p:val>
                                        </p:tav>
                                        <p:tav tm="55000">
                                          <p:val>
                                            <p:strVal val="ppt_x+0.1531"/>
                                          </p:val>
                                        </p:tav>
                                        <p:tav tm="60000">
                                          <p:val>
                                            <p:strVal val="ppt_x+0.1474"/>
                                          </p:val>
                                        </p:tav>
                                        <p:tav tm="65000">
                                          <p:val>
                                            <p:strVal val="ppt_x+0.1381"/>
                                          </p:val>
                                        </p:tav>
                                        <p:tav tm="70000">
                                          <p:val>
                                            <p:strVal val="ppt_x+0.1254"/>
                                          </p:val>
                                        </p:tav>
                                        <p:tav tm="75000">
                                          <p:val>
                                            <p:strVal val="ppt_x+0.1096"/>
                                          </p:val>
                                        </p:tav>
                                        <p:tav tm="80000">
                                          <p:val>
                                            <p:strVal val="ppt_x+0.0911"/>
                                          </p:val>
                                        </p:tav>
                                        <p:tav tm="85000">
                                          <p:val>
                                            <p:strVal val="ppt_x+0.0704"/>
                                          </p:val>
                                        </p:tav>
                                        <p:tav tm="90000">
                                          <p:val>
                                            <p:strVal val="ppt_x+0.0479"/>
                                          </p:val>
                                        </p:tav>
                                        <p:tav tm="95000">
                                          <p:val>
                                            <p:strVal val="ppt_x+0.0242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400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600" decel="500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5000">
                                          <p:val>
                                            <p:strVal val="ppt_y+0.0019"/>
                                          </p:val>
                                        </p:tav>
                                        <p:tav tm="10000">
                                          <p:val>
                                            <p:strVal val="ppt_y+0.0076"/>
                                          </p:val>
                                        </p:tav>
                                        <p:tav tm="15000">
                                          <p:val>
                                            <p:strVal val="ppt_y+0.0169"/>
                                          </p:val>
                                        </p:tav>
                                        <p:tav tm="20000">
                                          <p:val>
                                            <p:strVal val="ppt_y+0.0296"/>
                                          </p:val>
                                        </p:tav>
                                        <p:tav tm="25000">
                                          <p:val>
                                            <p:strVal val="ppt_y+0.0454"/>
                                          </p:val>
                                        </p:tav>
                                        <p:tav tm="30000">
                                          <p:val>
                                            <p:strVal val="ppt_y+0.0639"/>
                                          </p:val>
                                        </p:tav>
                                        <p:tav tm="35000">
                                          <p:val>
                                            <p:strVal val="ppt_y+0.0846"/>
                                          </p:val>
                                        </p:tav>
                                        <p:tav tm="40000">
                                          <p:val>
                                            <p:strVal val="ppt_y+0.1071"/>
                                          </p:val>
                                        </p:tav>
                                        <p:tav tm="45000">
                                          <p:val>
                                            <p:strVal val="ppt_y+0.1307"/>
                                          </p:val>
                                        </p:tav>
                                        <p:tav tm="50000">
                                          <p:val>
                                            <p:strVal val="ppt_y+0.155"/>
                                          </p:val>
                                        </p:tav>
                                        <p:tav tm="55000">
                                          <p:val>
                                            <p:strVal val="ppt_y+0.1792"/>
                                          </p:val>
                                        </p:tav>
                                        <p:tav tm="60000">
                                          <p:val>
                                            <p:strVal val="ppt_y+0.2029"/>
                                          </p:val>
                                        </p:tav>
                                        <p:tav tm="65000">
                                          <p:val>
                                            <p:strVal val="ppt_y+0.2253"/>
                                          </p:val>
                                        </p:tav>
                                        <p:tav tm="70000">
                                          <p:val>
                                            <p:strVal val="ppt_y+0.2461"/>
                                          </p:val>
                                        </p:tav>
                                        <p:tav tm="75000">
                                          <p:val>
                                            <p:strVal val="ppt_y+0.2646"/>
                                          </p:val>
                                        </p:tav>
                                        <p:tav tm="80000">
                                          <p:val>
                                            <p:strVal val="ppt_y+0.2804"/>
                                          </p:val>
                                        </p:tav>
                                        <p:tav tm="85000">
                                          <p:val>
                                            <p:strVal val="ppt_y+0.2931"/>
                                          </p:val>
                                        </p:tav>
                                        <p:tav tm="90000">
                                          <p:val>
                                            <p:strVal val="ppt_y+0.3024"/>
                                          </p:val>
                                        </p:tav>
                                        <p:tav tm="95000">
                                          <p:val>
                                            <p:strVal val="ppt_y+0.308"/>
                                          </p:val>
                                        </p:tav>
                                        <p:tav tm="100000">
                                          <p:val>
                                            <p:strVal val="ppt_y+0.3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" dur="400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43" dur="100">
                                          <p:stCondLst>
                                            <p:cond delay="90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4" grpId="0" animBg="1"/>
      <p:bldP spid="5" grpId="0" animBg="1"/>
      <p:bldP spid="6" grpId="0" animBg="1"/>
      <p:bldP spid="7" grpId="0" animBg="1"/>
      <p:bldP spid="8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4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ulo">
            <a:extLst>
              <a:ext uri="{FF2B5EF4-FFF2-40B4-BE49-F238E27FC236}">
                <a16:creationId xmlns:a16="http://schemas.microsoft.com/office/drawing/2014/main" id="{80FCBBD5-3332-1017-4CF8-EB35584C233F}"/>
              </a:ext>
            </a:extLst>
          </p:cNvPr>
          <p:cNvSpPr txBox="1"/>
          <p:nvPr/>
        </p:nvSpPr>
        <p:spPr>
          <a:xfrm>
            <a:off x="381000" y="203200"/>
            <a:ext cx="11430000" cy="52322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pt-BR" sz="2800" b="1">
                <a:solidFill>
                  <a:srgbClr val="1E1E1E"/>
                </a:solidFill>
              </a:rPr>
              <a:t>Saída 3</a:t>
            </a:r>
          </a:p>
        </p:txBody>
      </p:sp>
      <p:sp>
        <p:nvSpPr>
          <p:cNvPr id="3" name="Retângulo: Cantos Arredondados 2">
            <a:extLst>
              <a:ext uri="{FF2B5EF4-FFF2-40B4-BE49-F238E27FC236}">
                <a16:creationId xmlns:a16="http://schemas.microsoft.com/office/drawing/2014/main" id="{52C36ACE-62FD-93A8-678B-F006B04BC6E7}"/>
              </a:ext>
            </a:extLst>
          </p:cNvPr>
          <p:cNvSpPr/>
          <p:nvPr/>
        </p:nvSpPr>
        <p:spPr>
          <a:xfrm>
            <a:off x="381000" y="1270000"/>
            <a:ext cx="3556000" cy="2159000"/>
          </a:xfrm>
          <a:prstGeom prst="roundRect">
            <a:avLst/>
          </a:prstGeom>
          <a:solidFill>
            <a:srgbClr val="C0392B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b="1">
                <a:solidFill>
                  <a:srgbClr val="FFFFFF"/>
                </a:solidFill>
              </a:rPr>
              <a:t>Descer</a:t>
            </a:r>
          </a:p>
        </p:txBody>
      </p:sp>
      <p:sp>
        <p:nvSpPr>
          <p:cNvPr id="4" name="Retângulo: Cantos Arredondados 3">
            <a:extLst>
              <a:ext uri="{FF2B5EF4-FFF2-40B4-BE49-F238E27FC236}">
                <a16:creationId xmlns:a16="http://schemas.microsoft.com/office/drawing/2014/main" id="{E4352499-6482-A883-FEC9-E4717005B323}"/>
              </a:ext>
            </a:extLst>
          </p:cNvPr>
          <p:cNvSpPr/>
          <p:nvPr/>
        </p:nvSpPr>
        <p:spPr>
          <a:xfrm>
            <a:off x="4318000" y="1270000"/>
            <a:ext cx="3556000" cy="2159000"/>
          </a:xfrm>
          <a:prstGeom prst="roundRect">
            <a:avLst/>
          </a:prstGeom>
          <a:solidFill>
            <a:srgbClr val="2980B9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b="1">
                <a:solidFill>
                  <a:srgbClr val="FFFFFF"/>
                </a:solidFill>
              </a:rPr>
              <a:t>Estilingue</a:t>
            </a:r>
          </a:p>
        </p:txBody>
      </p:sp>
      <p:sp>
        <p:nvSpPr>
          <p:cNvPr id="5" name="Retângulo: Cantos Arredondados 4">
            <a:extLst>
              <a:ext uri="{FF2B5EF4-FFF2-40B4-BE49-F238E27FC236}">
                <a16:creationId xmlns:a16="http://schemas.microsoft.com/office/drawing/2014/main" id="{3845D405-68F9-5B5C-ECC2-48F86474BCFA}"/>
              </a:ext>
            </a:extLst>
          </p:cNvPr>
          <p:cNvSpPr/>
          <p:nvPr/>
        </p:nvSpPr>
        <p:spPr>
          <a:xfrm>
            <a:off x="8255000" y="1270000"/>
            <a:ext cx="3556000" cy="2159000"/>
          </a:xfrm>
          <a:prstGeom prst="roundRect">
            <a:avLst/>
          </a:prstGeom>
          <a:solidFill>
            <a:srgbClr val="27AE6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b="1">
                <a:solidFill>
                  <a:srgbClr val="FFFFFF"/>
                </a:solidFill>
              </a:rPr>
              <a:t>Girador</a:t>
            </a:r>
          </a:p>
        </p:txBody>
      </p:sp>
      <p:sp>
        <p:nvSpPr>
          <p:cNvPr id="6" name="Retângulo: Cantos Arredondados 5">
            <a:extLst>
              <a:ext uri="{FF2B5EF4-FFF2-40B4-BE49-F238E27FC236}">
                <a16:creationId xmlns:a16="http://schemas.microsoft.com/office/drawing/2014/main" id="{288E7BFC-A267-ACB5-BAD0-F5F7E71D6846}"/>
              </a:ext>
            </a:extLst>
          </p:cNvPr>
          <p:cNvSpPr/>
          <p:nvPr/>
        </p:nvSpPr>
        <p:spPr>
          <a:xfrm>
            <a:off x="381000" y="4000500"/>
            <a:ext cx="3556000" cy="2159000"/>
          </a:xfrm>
          <a:prstGeom prst="roundRect">
            <a:avLst/>
          </a:prstGeom>
          <a:solidFill>
            <a:srgbClr val="8E44AD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b="1">
                <a:solidFill>
                  <a:srgbClr val="FFFFFF"/>
                </a:solidFill>
              </a:rPr>
              <a:t>Comprimir</a:t>
            </a:r>
          </a:p>
        </p:txBody>
      </p:sp>
      <p:sp>
        <p:nvSpPr>
          <p:cNvPr id="7" name="Retângulo: Cantos Arredondados 6">
            <a:extLst>
              <a:ext uri="{FF2B5EF4-FFF2-40B4-BE49-F238E27FC236}">
                <a16:creationId xmlns:a16="http://schemas.microsoft.com/office/drawing/2014/main" id="{8626EED1-CE78-466D-7E4C-97A0FF13AF43}"/>
              </a:ext>
            </a:extLst>
          </p:cNvPr>
          <p:cNvSpPr/>
          <p:nvPr/>
        </p:nvSpPr>
        <p:spPr>
          <a:xfrm>
            <a:off x="4318000" y="4000500"/>
            <a:ext cx="3556000" cy="2159000"/>
          </a:xfrm>
          <a:prstGeom prst="roundRect">
            <a:avLst/>
          </a:prstGeom>
          <a:solidFill>
            <a:srgbClr val="F39C12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b="1">
                <a:solidFill>
                  <a:srgbClr val="FFFFFF"/>
                </a:solidFill>
              </a:rPr>
              <a:t>Zíper</a:t>
            </a:r>
          </a:p>
        </p:txBody>
      </p:sp>
      <p:sp>
        <p:nvSpPr>
          <p:cNvPr id="8" name="Retângulo: Cantos Arredondados 7">
            <a:extLst>
              <a:ext uri="{FF2B5EF4-FFF2-40B4-BE49-F238E27FC236}">
                <a16:creationId xmlns:a16="http://schemas.microsoft.com/office/drawing/2014/main" id="{14CBB863-38E8-3449-97EF-3D86F15B0B49}"/>
              </a:ext>
            </a:extLst>
          </p:cNvPr>
          <p:cNvSpPr/>
          <p:nvPr/>
        </p:nvSpPr>
        <p:spPr>
          <a:xfrm>
            <a:off x="8255000" y="4000500"/>
            <a:ext cx="3556000" cy="2159000"/>
          </a:xfrm>
          <a:prstGeom prst="roundRect">
            <a:avLst/>
          </a:prstGeom>
          <a:solidFill>
            <a:srgbClr val="16A085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b="1">
                <a:solidFill>
                  <a:srgbClr val="FFFFFF"/>
                </a:solidFill>
              </a:rPr>
              <a:t>Arco p/ baixo</a:t>
            </a:r>
          </a:p>
        </p:txBody>
      </p:sp>
    </p:spTree>
    <p:extLst>
      <p:ext uri="{BB962C8B-B14F-4D97-AF65-F5344CB8AC3E}">
        <p14:creationId xmlns:p14="http://schemas.microsoft.com/office/powerpoint/2010/main" val="1114582845"/>
      </p:ext>
    </p:extLst>
  </p:cSld>
  <p:clrMapOvr>
    <a:masterClrMapping/>
  </p:clrMapOvr>
  <p:transition advTm="10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xit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" dur="1000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-.1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1000"/>
                            </p:stCondLst>
                            <p:childTnLst>
                              <p:par>
                                <p:cTn id="11" presetID="48" presetClass="exit" presetSubtype="0" decel="5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12" dur="1000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20000">
                                          <p:val>
                                            <p:fltVal val="90"/>
                                          </p:val>
                                        </p:tav>
                                        <p:tav tm="2000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9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1000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50000">
                                          <p:val>
                                            <p:fltVal val="0.95"/>
                                          </p:val>
                                        </p:tav>
                                        <p:tav tm="100000">
                                          <p:val>
                                            <p:fltVal val="-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15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2000"/>
                            </p:stCondLst>
                            <p:childTnLst>
                              <p:par>
                                <p:cTn id="18" presetID="49" presetClass="exit" presetSubtype="0" ac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19" dur="500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500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36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2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2500"/>
                            </p:stCondLst>
                            <p:childTnLst>
                              <p:par>
                                <p:cTn id="25" presetID="50" presetClass="exit" presetSubtype="0" ac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26" dur="1000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strVal val="ppt_w+.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1000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strVal val="ppt_h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28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>
                            <p:stCondLst>
                              <p:cond delay="3500"/>
                            </p:stCondLst>
                            <p:childTnLst>
                              <p:par>
                                <p:cTn id="31" presetID="51" presetClass="exit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2" dur="770" accel="100000">
                                          <p:stCondLst>
                                            <p:cond delay="123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33" dur="770" accel="100000">
                                          <p:stCondLst>
                                            <p:cond delay="123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</p:cBhvr>
                                      <p:from x="200000" y="450000"/>
                                      <p:to x="10000" y="10000"/>
                                    </p:animScale>
                                    <p:animScale>
                                      <p:cBhvr>
                                        <p:cTn id="34" dur="1230" decel="100000"/>
                                        <p:tgtEl>
                                          <p:spTgt spid="7"/>
                                        </p:tgtEl>
                                      </p:cBhvr>
                                      <p:from x="100000" y="100000"/>
                                      <p:to x="200000" y="450000"/>
                                    </p:animScale>
                                    <p:anim from="(ppt_x)" to="(0.5)" calcmode="lin" valueType="num">
                                      <p:cBhvr>
                                        <p:cTn id="35" dur="1230" decel="100000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  <p:anim from="(0.5)" to="(0.5)" calcmode="lin" valueType="num">
                                      <p:cBhvr>
                                        <p:cTn id="36" dur="770">
                                          <p:stCondLst>
                                            <p:cond delay="123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  <p:anim from="(ppt_y)" to="(ppt_y+0.4)" calcmode="lin" valueType="num">
                                      <p:cBhvr>
                                        <p:cTn id="37" dur="1230" decel="100000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</p:anim>
                                    <p:anim from="(ppt_y)" to="(ppt_y)" calcmode="lin" valueType="num">
                                      <p:cBhvr>
                                        <p:cTn id="38" dur="770">
                                          <p:stCondLst>
                                            <p:cond delay="123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</p:anim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5500"/>
                            </p:stCondLst>
                            <p:childTnLst>
                              <p:par>
                                <p:cTn id="41" presetID="52" presetClass="exit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42" dur="1000" accel="500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</p:cBhvr>
                                      <p:from x="100000" y="100000"/>
                                      <p:to x="250000" y="250000"/>
                                    </p:animScale>
                                    <p:animMotion origin="layout" path="M 0.0000 0.0000 C 0.03802 0.0 0.1441 0.02341 0.1826 0.0915 C 0.22118 0.15964 0.24705 0.31256 0.2318 0.4083 C 0.21649 0.50394 0.20747 0.57948 0.0908 0.6661 C -0.02552 0.75279 -0.37517 0.88508 -0.4674 0.9289" pathEditMode="relative" ptsTypes="">
                                      <p:cBhvr>
                                        <p:cTn id="43" dur="1000" accel="500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  <p:animEffect transition="out" filter="fade">
                                      <p:cBhvr>
                                        <p:cTn id="44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4" grpId="0" animBg="1"/>
      <p:bldP spid="5" grpId="0" animBg="1"/>
      <p:bldP spid="6" grpId="0" animBg="1"/>
      <p:bldP spid="7" grpId="0" animBg="1"/>
      <p:bldP spid="8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4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ulo">
            <a:extLst>
              <a:ext uri="{FF2B5EF4-FFF2-40B4-BE49-F238E27FC236}">
                <a16:creationId xmlns:a16="http://schemas.microsoft.com/office/drawing/2014/main" id="{52222D6C-9D53-011E-4443-E3E4BC77B416}"/>
              </a:ext>
            </a:extLst>
          </p:cNvPr>
          <p:cNvSpPr txBox="1"/>
          <p:nvPr/>
        </p:nvSpPr>
        <p:spPr>
          <a:xfrm>
            <a:off x="381000" y="203200"/>
            <a:ext cx="11430000" cy="52322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pt-BR" sz="2800" b="1">
                <a:solidFill>
                  <a:srgbClr val="1E1E1E"/>
                </a:solidFill>
              </a:rPr>
              <a:t>Saída 4</a:t>
            </a:r>
          </a:p>
        </p:txBody>
      </p:sp>
      <p:sp>
        <p:nvSpPr>
          <p:cNvPr id="3" name="Retângulo: Cantos Arredondados 2">
            <a:extLst>
              <a:ext uri="{FF2B5EF4-FFF2-40B4-BE49-F238E27FC236}">
                <a16:creationId xmlns:a16="http://schemas.microsoft.com/office/drawing/2014/main" id="{75606F8C-E549-39CB-6682-15D361D0222B}"/>
              </a:ext>
            </a:extLst>
          </p:cNvPr>
          <p:cNvSpPr/>
          <p:nvPr/>
        </p:nvSpPr>
        <p:spPr>
          <a:xfrm>
            <a:off x="381000" y="1270000"/>
            <a:ext cx="3556000" cy="2159000"/>
          </a:xfrm>
          <a:prstGeom prst="roundRect">
            <a:avLst/>
          </a:prstGeom>
          <a:solidFill>
            <a:srgbClr val="2C3E5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b="1">
                <a:solidFill>
                  <a:srgbClr val="FFFFFF"/>
                </a:solidFill>
              </a:rPr>
              <a:t>Deslizar</a:t>
            </a:r>
          </a:p>
        </p:txBody>
      </p:sp>
      <p:sp>
        <p:nvSpPr>
          <p:cNvPr id="4" name="Retângulo: Cantos Arredondados 3">
            <a:extLst>
              <a:ext uri="{FF2B5EF4-FFF2-40B4-BE49-F238E27FC236}">
                <a16:creationId xmlns:a16="http://schemas.microsoft.com/office/drawing/2014/main" id="{30D50AE0-7913-E4AF-AEAF-F0818E7182F7}"/>
              </a:ext>
            </a:extLst>
          </p:cNvPr>
          <p:cNvSpPr/>
          <p:nvPr/>
        </p:nvSpPr>
        <p:spPr>
          <a:xfrm>
            <a:off x="4318000" y="1270000"/>
            <a:ext cx="3556000" cy="2159000"/>
          </a:xfrm>
          <a:prstGeom prst="roundRect">
            <a:avLst/>
          </a:prstGeom>
          <a:solidFill>
            <a:srgbClr val="D3540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b="1">
                <a:solidFill>
                  <a:srgbClr val="FFFFFF"/>
                </a:solidFill>
              </a:rPr>
              <a:t>Inverter</a:t>
            </a:r>
          </a:p>
        </p:txBody>
      </p:sp>
      <p:sp>
        <p:nvSpPr>
          <p:cNvPr id="5" name="Retângulo: Cantos Arredondados 4">
            <a:extLst>
              <a:ext uri="{FF2B5EF4-FFF2-40B4-BE49-F238E27FC236}">
                <a16:creationId xmlns:a16="http://schemas.microsoft.com/office/drawing/2014/main" id="{F9EB5E20-D38D-BAB0-0D5A-B5866DE2EC4C}"/>
              </a:ext>
            </a:extLst>
          </p:cNvPr>
          <p:cNvSpPr/>
          <p:nvPr/>
        </p:nvSpPr>
        <p:spPr>
          <a:xfrm>
            <a:off x="8255000" y="1270000"/>
            <a:ext cx="3556000" cy="2159000"/>
          </a:xfrm>
          <a:prstGeom prst="roundRect">
            <a:avLst/>
          </a:prstGeom>
          <a:solidFill>
            <a:srgbClr val="7F8C8D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b="1">
                <a:solidFill>
                  <a:srgbClr val="FFFFFF"/>
                </a:solidFill>
              </a:rPr>
              <a:t>Cintilar</a:t>
            </a:r>
          </a:p>
        </p:txBody>
      </p:sp>
      <p:sp>
        <p:nvSpPr>
          <p:cNvPr id="6" name="Retângulo: Cantos Arredondados 5">
            <a:extLst>
              <a:ext uri="{FF2B5EF4-FFF2-40B4-BE49-F238E27FC236}">
                <a16:creationId xmlns:a16="http://schemas.microsoft.com/office/drawing/2014/main" id="{A6D75C1D-5D2F-02E7-C725-4D49A1E77676}"/>
              </a:ext>
            </a:extLst>
          </p:cNvPr>
          <p:cNvSpPr/>
          <p:nvPr/>
        </p:nvSpPr>
        <p:spPr>
          <a:xfrm>
            <a:off x="381000" y="4000500"/>
            <a:ext cx="3556000" cy="2159000"/>
          </a:xfrm>
          <a:prstGeom prst="roundRect">
            <a:avLst/>
          </a:prstGeom>
          <a:solidFill>
            <a:srgbClr val="34495E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b="1">
                <a:solidFill>
                  <a:srgbClr val="FFFFFF"/>
                </a:solidFill>
              </a:rPr>
              <a:t>Piscar uma vez</a:t>
            </a:r>
          </a:p>
        </p:txBody>
      </p:sp>
    </p:spTree>
    <p:extLst>
      <p:ext uri="{BB962C8B-B14F-4D97-AF65-F5344CB8AC3E}">
        <p14:creationId xmlns:p14="http://schemas.microsoft.com/office/powerpoint/2010/main" val="1236344885"/>
      </p:ext>
    </p:extLst>
  </p:cSld>
  <p:clrMapOvr>
    <a:masterClrMapping/>
  </p:clrMapOvr>
  <p:transition advTm="10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4" presetClass="exit" presetSubtype="0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6" dur="500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strVal val="ppt_w*0.0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strVal val="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-.2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10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500"/>
                            </p:stCondLst>
                            <p:childTnLst>
                              <p:par>
                                <p:cTn id="13" presetID="56" presetClass="exit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anim from="(ppt_w)" to="(-ppt_w*2)" calcmode="lin" valueType="num">
                                      <p:cBhvr rctx="PPT">
                                        <p:cTn id="14" dur="500" autoRev="1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</p:anim>
                                    <p:anim by="(ppt_w*0.50)" calcmode="lin" valueType="num">
                                      <p:cBhvr>
                                        <p:cTn id="15" dur="500" decel="50000" autoRev="1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  <p:anim from="(ppt_y)" to="(1+ppt_h/2)" calcmode="lin" valueType="num">
                                      <p:cBhvr>
                                        <p:cTn id="16" dur="10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</p:anim>
                                    <p:animRot by="21600000">
                                      <p:cBhvr>
                                        <p:cTn id="17" dur="10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2200"/>
                            </p:stCondLst>
                            <p:childTnLst>
                              <p:par>
                                <p:cTn id="20" presetID="36" presetClass="emph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animScale>
                                      <p:cBhvr>
                                        <p:cTn id="21" dur="250" autoRev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</p:cBhvr>
                                      <p:to x="80000" y="100000"/>
                                    </p:animScale>
                                    <p:anim by="(#ppt_w*0.10)" calcmode="lin" valueType="num">
                                      <p:cBhvr>
                                        <p:cTn id="22" dur="250" autoRev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  <p:anim by="(-#ppt_w*0.10)" calcmode="lin" valueType="num">
                                      <p:cBhvr>
                                        <p:cTn id="23" dur="250" autoRev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</p:anim>
                                    <p:animRot by="-480000">
                                      <p:cBhvr>
                                        <p:cTn id="24" dur="250" autoRev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3050"/>
                            </p:stCondLst>
                            <p:childTnLst>
                              <p:par>
                                <p:cTn id="26" presetID="11" presetClass="exit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discrete" valueType="str">
                                      <p:cBhvr>
                                        <p:cTn id="27" dur="1000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hidden"/>
                                          </p:val>
                                        </p:tav>
                                        <p:tav tm="50000">
                                          <p:val>
                                            <p:strVal val="visible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4" grpId="0" animBg="1"/>
      <p:bldP spid="5" grpId="0" animBg="1"/>
      <p:bldP spid="6" grpId="0" animBg="1"/>
    </p:bldLst>
  </p:timing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40</Words>
  <Application>Microsoft Office PowerPoint</Application>
  <PresentationFormat>Personalizar</PresentationFormat>
  <Paragraphs>26</Paragraphs>
  <Slides>4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4</vt:i4>
      </vt:variant>
    </vt:vector>
  </HeadingPairs>
  <TitlesOfParts>
    <vt:vector size="8" baseType="lpstr">
      <vt:lpstr>Aptos</vt:lpstr>
      <vt:lpstr>Aptos Display</vt:lpstr>
      <vt:lpstr>Arial</vt:lpstr>
      <vt:lpstr>Tema do Office</vt:lpstr>
      <vt:lpstr>Apresentação do PowerPoint</vt:lpstr>
      <vt:lpstr>Apresentação do PowerPoint</vt:lpstr>
      <vt:lpstr>Apresentação do PowerPoint</vt:lpstr>
      <vt:lpstr>Apresentação do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Eric Kono</dc:creator>
  <cp:lastModifiedBy>Eric Kono</cp:lastModifiedBy>
  <cp:revision>1</cp:revision>
  <dcterms:created xsi:type="dcterms:W3CDTF">2026-10-06T05:19:59Z</dcterms:created>
  <dcterms:modified xsi:type="dcterms:W3CDTF">2026-10-06T05:19:59Z</dcterms:modified>
</cp:coreProperties>
</file>