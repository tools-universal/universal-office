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Receita vs Meta (combo)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</c:v>
                </c:pt>
                <c:pt idx="1">
                  <c:v>140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Distribuição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F9C8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Mobile</c:v>
                </c:pt>
                <c:pt idx="1">
                  <c:v>Web</c:v>
                </c:pt>
                <c:pt idx="2">
                  <c:v>API</c:v>
                </c:pt>
                <c:pt idx="3">
                  <c:v>Outros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30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Comparativo (radar)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 A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Custo</c:v>
                  </c:pt>
                  <c:pt idx="1">
                    <c:v>Velocidade</c:v>
                  </c:pt>
                  <c:pt idx="2">
                    <c:v>Suporte</c:v>
                  </c:pt>
                  <c:pt idx="3">
                    <c:v>UX</c:v>
                  </c:pt>
                  <c:pt idx="4">
                    <c:v>Escala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Produto B</c:v>
                </c:pt>
              </c:strCache>
            </c:strRef>
          </c:tx>
          <c:spPr>
            <a:solidFill>
              <a:srgbClr val="F96167"/>
            </a:solidFill>
            <a:ln w="254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Custo</c:v>
                  </c:pt>
                  <c:pt idx="1">
                    <c:v>Velocidade</c:v>
                  </c:pt>
                  <c:pt idx="2">
                    <c:v>Suporte</c:v>
                  </c:pt>
                  <c:pt idx="3">
                    <c:v>UX</c:v>
                  </c:pt>
                  <c:pt idx="4">
                    <c:v>Escala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60</c:v>
                </c:pt>
                <c:pt idx="2">
                  <c:v>80</c:v>
                </c:pt>
                <c:pt idx="3">
                  <c:v>70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Dispersão + linha de tendência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Dados</c:v>
                </c:pt>
              </c:strCache>
            </c:strRef>
          </c:tx>
          <c:spPr>
            <a:solidFill>
              <a:srgbClr val="00A896"/>
            </a:solidFill>
            <a:ln w="2540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22</c:v>
                </c:pt>
                <c:pt idx="4">
                  <c:v>25</c:v>
                </c:pt>
                <c:pt idx="5">
                  <c:v>31</c:v>
                </c:pt>
                <c:pt idx="6">
                  <c:v>35</c:v>
                </c:pt>
                <c:pt idx="7">
                  <c:v>40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102</c:v>
                </c:pt>
                <c:pt idx="1">
                  <c:v>145</c:v>
                </c:pt>
                <c:pt idx="2">
                  <c:v>198</c:v>
                </c:pt>
                <c:pt idx="3">
                  <c:v>210</c:v>
                </c:pt>
                <c:pt idx="4">
                  <c:v>267</c:v>
                </c:pt>
                <c:pt idx="5">
                  <c:v>290</c:v>
                </c:pt>
                <c:pt idx="6">
                  <c:v>330</c:v>
                </c:pt>
                <c:pt idx="7">
                  <c:v>360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Tendência</c:v>
                </c:pt>
              </c:strCache>
            </c:strRef>
          </c:tx>
          <c:spPr>
            <a:solidFill>
              <a:srgbClr val="F96167"/>
            </a:solidFill>
            <a:ln w="254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22</c:v>
                </c:pt>
                <c:pt idx="4">
                  <c:v>25</c:v>
                </c:pt>
                <c:pt idx="5">
                  <c:v>31</c:v>
                </c:pt>
                <c:pt idx="6">
                  <c:v>35</c:v>
                </c:pt>
                <c:pt idx="7">
                  <c:v>40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110.5714491708724</c:v>
                </c:pt>
                <c:pt idx="1">
                  <c:v>142.6164383561644</c:v>
                </c:pt>
                <c:pt idx="2">
                  <c:v>190.6839221341024</c:v>
                </c:pt>
                <c:pt idx="3">
                  <c:v>222.72891131939437</c:v>
                </c:pt>
                <c:pt idx="4">
                  <c:v>246.7626532083634</c:v>
                </c:pt>
                <c:pt idx="5">
                  <c:v>294.83013698630134</c:v>
                </c:pt>
                <c:pt idx="6">
                  <c:v>326.87512617159337</c:v>
                </c:pt>
                <c:pt idx="7">
                  <c:v>366.93136265320834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Use o fundo em gradiente e o espaçamento de caracteres no rótulo SHOWCASE como exemplos de tipografia.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em cards. Cada card combina forma arredondada, sombra, círculo de cor e ícone.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 negrito, itálico, sublinhado, tachado, sub/sobrescrito, realce, listas e numeração.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Galeria de formas: retângulo, arredondado, oval, triângulo, chevron, pizza; transparência e estilos de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combo (coluna + linha) e rosca. Permanecem editáveis no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Radar com duas séries e dispersão com linha de tendência calculada por regressão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 cabeçalho colorido, título mesclado em 4 colunas e célula mesclada.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Imagens com recorte circular, rotação, transparência e espelhamento; além de um hyperlink em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callouts de estatística com ícones e um bloco de citação destacado.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em pentágonos (setas de processo) com círculos numerados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pros/cons em duas colunas tonalizadas.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Lembre o público de que tudo foi feito sem nenhuma macro.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6" Type="http://schemas.openxmlformats.org/officeDocument/2006/relationships/hyperlink" Target="https://www.anthropic.com" TargetMode="Externa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772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630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0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do PowerPoint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3832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demonstração de tudo que dá pra fazer — sem macros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577840" y="42976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5989320" y="42976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0" y="42976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por Claude · 2026</a:t>
            </a:r>
            <a:endParaRPr lang="en-US" sz="1200" dirty="0"/>
          </a:p>
        </p:txBody>
      </p:sp>
    </p:spTree>
  </p:cSld>
  <p:transition spd="med">
    <p:fade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apresentação demonstra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5564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29384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739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&amp; Sombras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Retângulos, ovais, linhas, transparência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75564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929384"/>
            <a:ext cx="429768" cy="429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7739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nativos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23560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Coluna, linha, pizza, rosca, radar, dispersão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75320" y="146304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75564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929384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09760" y="17739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509760" y="2240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mescladas, cabeçalhos coloridos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65760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502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123944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39684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737360" y="4434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circular, rotação, gradientes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365760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39502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4123944"/>
            <a:ext cx="429768" cy="4297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3560" y="39684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rico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623560" y="4434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Negrito, itálico, listas, numeração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75320" y="365760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AF6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39502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3376" y="4123944"/>
            <a:ext cx="429768" cy="4297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09760" y="39684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&amp; Notas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509760" y="4434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 anotações do apresentador</a:t>
            </a:r>
            <a:endParaRPr lang="en-US" sz="1150" dirty="0"/>
          </a:p>
        </p:txBody>
      </p:sp>
    </p:spTree>
  </p:cSld>
  <p:transition spd="med">
    <p:push dir="l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00"/>
                      </p:stCondLst>
                      <p:childTnLst>
                        <p:par>
                          <p:cTn id="1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5" dur="5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200"/>
                      </p:stCondLst>
                      <p:childTnLst>
                        <p:par>
                          <p:cTn id="15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0" dur="5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00"/>
                      </p:stCondLst>
                      <p:childTnLst>
                        <p:par>
                          <p:cTn id="16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200"/>
                      </p:stCondLst>
                      <p:childTnLst>
                        <p:par>
                          <p:cTn id="16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0" dur="500" fill="hold"/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1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00"/>
                      </p:stCondLst>
                      <p:childTnLst>
                        <p:par>
                          <p:cTn id="17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5" dur="5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00"/>
                      </p:stCondLst>
                      <p:childTnLst>
                        <p:par>
                          <p:cTn id="17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0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200"/>
                      </p:stCondLst>
                      <p:childTnLst>
                        <p:par>
                          <p:cTn id="18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00"/>
                      </p:stCondLst>
                      <p:childTnLst>
                        <p:par>
                          <p:cTn id="18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0" dur="5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00"/>
                      </p:stCondLst>
                      <p:childTnLst>
                        <p:par>
                          <p:cTn id="19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5" dur="500" fill="hold"/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200"/>
                      </p:stCondLst>
                      <p:childTnLst>
                        <p:par>
                          <p:cTn id="19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0" dur="500" fill="hold"/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1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200"/>
                      </p:stCondLst>
                      <p:childTnLst>
                        <p:par>
                          <p:cTn id="20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5" dur="500" fill="hold"/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200"/>
                      </p:stCondLst>
                      <p:childTnLst>
                        <p:par>
                          <p:cTn id="2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0" dur="500" fill="hold"/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200"/>
                      </p:stCondLst>
                      <p:childTnLst>
                        <p:par>
                          <p:cTn id="2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5" dur="500" fill="hold"/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6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200"/>
                      </p:stCondLst>
                      <p:childTnLst>
                        <p:par>
                          <p:cTn id="2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0" dur="500" fill="hold"/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1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200"/>
                      </p:stCondLst>
                      <p:childTnLst>
                        <p:par>
                          <p:cTn id="2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5" dur="500" fill="hold"/>
                                  <p:tgtEl>
                                    <p:spTgt spid="2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200"/>
                      </p:stCondLst>
                      <p:childTnLst>
                        <p:par>
                          <p:cTn id="2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30" dur="500" fill="hold"/>
                                  <p:tgtEl>
                                    <p:spTgt spid="2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200"/>
                      </p:stCondLst>
                      <p:childTnLst>
                        <p:par>
                          <p:cTn id="2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35" dur="500" fill="hold"/>
                                  <p:tgtEl>
                                    <p:spTgt spid="2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6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200"/>
                      </p:stCondLst>
                      <p:childTnLst>
                        <p:par>
                          <p:cTn id="2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40" dur="500" fill="hold"/>
                                  <p:tgtEl>
                                    <p:spTgt spid="2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41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200"/>
                      </p:stCondLst>
                      <p:childTnLst>
                        <p:par>
                          <p:cTn id="2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45" dur="500" fill="hold"/>
                                  <p:tgtEl>
                                    <p:spTgt spid="3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4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200"/>
                      </p:stCondLst>
                      <p:childTnLst>
                        <p:par>
                          <p:cTn id="2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0" dur="500" fill="hold"/>
                                  <p:tgtEl>
                                    <p:spTgt spid="3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51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200"/>
                      </p:stCondLst>
                      <p:childTnLst>
                        <p:par>
                          <p:cTn id="2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5" dur="500" fill="hold"/>
                                  <p:tgtEl>
                                    <p:spTgt spid="3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56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Formatação de texto rico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Você pode misturar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28090"/>
                </a:solidFill>
              </a:rPr>
              <a:t>negrito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0A896"/>
                </a:solidFill>
              </a:rPr>
              <a:t>itálico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600" u="sng" dirty="0">
                <a:solidFill>
                  <a:srgbClr val="1E293B"/>
                </a:solidFill>
              </a:rPr>
              <a:t>sublinhado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e </a:t>
            </a:r>
            <a:pPr indent="0" marL="0">
              <a:lnSpc>
                <a:spcPct val="130000"/>
              </a:lnSpc>
              <a:buNone/>
            </a:pPr>
            <a:r>
              <a:rPr lang="en-US" sz="1600" strike="sngStrike" dirty="0">
                <a:solidFill>
                  <a:srgbClr val="F96167"/>
                </a:solidFill>
              </a:rPr>
              <a:t>tachado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Subscrito H</a:t>
            </a:r>
            <a:pPr indent="0" marL="0">
              <a:lnSpc>
                <a:spcPct val="130000"/>
              </a:lnSpc>
              <a:buNone/>
            </a:pPr>
            <a:r>
              <a:rPr lang="en-US" sz="1600" baseline="-40000" dirty="0">
                <a:solidFill>
                  <a:srgbClr val="1E293B"/>
                </a:solidFill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O e sobrescrito E=mc</a:t>
            </a:r>
            <a:pPr indent="0" marL="0">
              <a:lnSpc>
                <a:spcPct val="130000"/>
              </a:lnSpc>
              <a:buNone/>
            </a:pPr>
            <a:r>
              <a:rPr lang="en-US" sz="1600" baseline="30000" dirty="0">
                <a:solidFill>
                  <a:srgbClr val="1E293B"/>
                </a:solidFill>
              </a:rPr>
              <a:t>2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Cores e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F9C846"/>
                </a:highlight>
              </a:rPr>
              <a:t>destaque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no mesmo parágrafo.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28090"/>
                </a:solidFill>
              </a:rPr>
              <a:t>Lista com marcadores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Primeiro item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Segundo item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Subitem aninhado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Terceiro item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28090"/>
                </a:solidFill>
              </a:rPr>
              <a:t>Lista numerada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Passo 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Passo dois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93B"/>
                </a:solidFill>
              </a:rPr>
              <a:t>Passo três</a:t>
            </a:r>
            <a:endParaRPr lang="en-US" sz="1500" dirty="0"/>
          </a:p>
        </p:txBody>
      </p:sp>
    </p:spTree>
  </p:cSld>
  <p:transition spd="med">
    <p:wipe dir="r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Formas, linhas e transparência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645920" cy="1188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Retângulo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1554480"/>
            <a:ext cx="1645920" cy="118872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5176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Arredondado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1645920" cy="11887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1645920" cy="1188720"/>
          </a:xfrm>
          <a:prstGeom prst="triangle">
            <a:avLst/>
          </a:prstGeom>
          <a:solidFill>
            <a:srgbClr val="F9C846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Triângulo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1554480"/>
            <a:ext cx="1645920" cy="1188720"/>
          </a:xfrm>
          <a:prstGeom prst="chevron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Chevron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332720" y="1554480"/>
            <a:ext cx="1188720" cy="1188720"/>
          </a:xfrm>
          <a:prstGeom prst="pi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Pizza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1828800" cy="182880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3566160"/>
            <a:ext cx="1828800" cy="1828800"/>
          </a:xfrm>
          <a:prstGeom prst="ellipse">
            <a:avLst/>
          </a:prstGeom>
          <a:solidFill>
            <a:srgbClr val="F96167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20240" y="4297680"/>
            <a:ext cx="1828800" cy="1828800"/>
          </a:xfrm>
          <a:prstGeom prst="ellipse">
            <a:avLst/>
          </a:prstGeom>
          <a:solidFill>
            <a:srgbClr val="F9C846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Transparência sobreposta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840480"/>
            <a:ext cx="5486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Linha sólida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4480560"/>
            <a:ext cx="5486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Tracejada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5120640"/>
            <a:ext cx="5486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dot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0" y="5166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Pontilhada com seta</a:t>
            </a:r>
            <a:endParaRPr lang="en-US" sz="1100" dirty="0"/>
          </a:p>
        </p:txBody>
      </p:sp>
    </p:spTree>
  </p:cSld>
  <p:transition spd="med">
    <p:cover dir="d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00"/>
                      </p:stCondLst>
                      <p:childTnLst>
                        <p:par>
                          <p:cTn id="1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5" dur="5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200"/>
                      </p:stCondLst>
                      <p:childTnLst>
                        <p:par>
                          <p:cTn id="15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0" dur="5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00"/>
                      </p:stCondLst>
                      <p:childTnLst>
                        <p:par>
                          <p:cTn id="16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200"/>
                      </p:stCondLst>
                      <p:childTnLst>
                        <p:par>
                          <p:cTn id="16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0" dur="500" fill="hold"/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1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00"/>
                      </p:stCondLst>
                      <p:childTnLst>
                        <p:par>
                          <p:cTn id="17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5" dur="5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00"/>
                      </p:stCondLst>
                      <p:childTnLst>
                        <p:par>
                          <p:cTn id="17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0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200"/>
                      </p:stCondLst>
                      <p:childTnLst>
                        <p:par>
                          <p:cTn id="18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00"/>
                      </p:stCondLst>
                      <p:childTnLst>
                        <p:par>
                          <p:cTn id="18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0" dur="5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00"/>
                      </p:stCondLst>
                      <p:childTnLst>
                        <p:par>
                          <p:cTn id="19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5" dur="500" fill="hold"/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200"/>
                      </p:stCondLst>
                      <p:childTnLst>
                        <p:par>
                          <p:cTn id="19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0" dur="500" fill="hold"/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1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200"/>
                      </p:stCondLst>
                      <p:childTnLst>
                        <p:par>
                          <p:cTn id="20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5" dur="500" fill="hold"/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200"/>
                      </p:stCondLst>
                      <p:childTnLst>
                        <p:par>
                          <p:cTn id="2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0" dur="500" fill="hold"/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200"/>
                      </p:stCondLst>
                      <p:childTnLst>
                        <p:par>
                          <p:cTn id="2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5" dur="500" fill="hold"/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6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Gráficos nativos e editáveis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371600"/>
          <a:ext cx="4114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transition spd="med">
    <p:split orient="horz" dir="out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 e dispersão com tendência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137160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transition spd="med">
    <p:blinds dir="horz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com células mescladas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54480"/>
          <a:ext cx="9418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194560"/>
                <a:gridCol w="2103120"/>
              </a:tblGrid>
              <a:tr h="457200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assinatura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Cabeçalho colorido · linha mesclada no topo · célula mesclada na linha Enterprise</a:t>
            </a:r>
            <a:endParaRPr lang="en-US" sz="1200" dirty="0"/>
          </a:p>
        </p:txBody>
      </p:sp>
    </p:spTree>
  </p:cSld>
  <p:transition spd="med">
    <p:checker dir="horz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Imagens: recorte, rotação e links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2194560" cy="219456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Recorte circular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0">
            <a:off x="3840480" y="1737360"/>
            <a:ext cx="1828800" cy="1828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365760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Rotação 20°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6400800" y="1554480"/>
            <a:ext cx="2194560" cy="2194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0936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Transparência 45%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9326880" y="1554480"/>
            <a:ext cx="2194560" cy="21945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2688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Espelhado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com hyperlink: </a:t>
            </a:r>
            <a:pPr indent="0" marL="0">
              <a:buNone/>
            </a:pPr>
            <a:r>
              <a:rPr lang="en-US" sz="1600" b="1" u="sng" dirty="0">
                <a:solidFill>
                  <a:srgbClr val="F9C846"/>
                </a:solidFill>
                <a:hlinkClick r:id="rId6" invalidUrl="" action="" tgtFrame="" tooltip="Abrir sit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anthropic.com</a:t>
            </a:r>
            <a:endParaRPr lang="en-US" sz="1600" dirty="0"/>
          </a:p>
        </p:txBody>
      </p:sp>
    </p:spTree>
  </p:cSld>
  <p:transition spd="med">
    <p:circle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Destaques numéricos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3774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7432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23774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32918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3774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400" dirty="0"/>
          </a:p>
        </p:txBody>
      </p:sp>
      <p:sp>
        <p:nvSpPr>
          <p:cNvPr id="14" name="Text 9"/>
          <p:cNvSpPr/>
          <p:nvPr/>
        </p:nvSpPr>
        <p:spPr>
          <a:xfrm>
            <a:off x="630936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32688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7830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6880" y="23774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2"/>
          <p:cNvSpPr/>
          <p:nvPr/>
        </p:nvSpPr>
        <p:spPr>
          <a:xfrm>
            <a:off x="932688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usados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805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54480" y="43891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melhor apresentação é a que não precisa de macros para impressionar.”</a:t>
            </a:r>
            <a:endParaRPr lang="en-US" sz="2200" dirty="0"/>
          </a:p>
        </p:txBody>
      </p:sp>
    </p:spTree>
  </p:cSld>
  <p:transition spd="med">
    <p:dissolve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00"/>
                      </p:stCondLst>
                      <p:childTnLst>
                        <p:par>
                          <p:cTn id="1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5" dur="5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200"/>
                      </p:stCondLst>
                      <p:childTnLst>
                        <p:par>
                          <p:cTn id="15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0" dur="5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00"/>
                      </p:stCondLst>
                      <p:childTnLst>
                        <p:par>
                          <p:cTn id="16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200"/>
                      </p:stCondLst>
                      <p:childTnLst>
                        <p:par>
                          <p:cTn id="16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0" dur="500" fill="hold"/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1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00"/>
                      </p:stCondLst>
                      <p:childTnLst>
                        <p:par>
                          <p:cTn id="17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5" dur="5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00"/>
                      </p:stCondLst>
                      <p:childTnLst>
                        <p:par>
                          <p:cTn id="17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0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200"/>
                      </p:stCondLst>
                      <p:childTnLst>
                        <p:par>
                          <p:cTn id="18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00"/>
                      </p:stCondLst>
                      <p:childTnLst>
                        <p:par>
                          <p:cTn id="18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0" dur="5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00"/>
                      </p:stCondLst>
                      <p:childTnLst>
                        <p:par>
                          <p:cTn id="19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5" dur="500" fill="hold"/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processo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4340" y="2011680"/>
            <a:ext cx="2651760" cy="1371600"/>
          </a:xfrm>
          <a:prstGeom prst="homePlat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2578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escopo e paleta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48740" y="3657600"/>
            <a:ext cx="822960" cy="822960"/>
          </a:xfrm>
          <a:prstGeom prst="ellipse">
            <a:avLst/>
          </a:prstGeom>
          <a:solidFill>
            <a:srgbClr val="0A0A1A"/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14700" y="2011680"/>
            <a:ext cx="2651760" cy="1371600"/>
          </a:xfrm>
          <a:prstGeom prst="homePlat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614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614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slides e recursos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9100" y="3657600"/>
            <a:ext cx="822960" cy="822960"/>
          </a:xfrm>
          <a:prstGeom prst="ellipse">
            <a:avLst/>
          </a:prstGeom>
          <a:solidFill>
            <a:srgbClr val="0A0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195060" y="2011680"/>
            <a:ext cx="2651760" cy="1371600"/>
          </a:xfrm>
          <a:prstGeom prst="homePlat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650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650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visual e de conteúdo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09460" y="3657600"/>
            <a:ext cx="822960" cy="822960"/>
          </a:xfrm>
          <a:prstGeom prst="ellipse">
            <a:avLst/>
          </a:prstGeom>
          <a:solidFill>
            <a:srgbClr val="0A0A1A"/>
          </a:solidFill>
          <a:ln/>
        </p:spPr>
      </p:sp>
      <p:sp>
        <p:nvSpPr>
          <p:cNvPr id="17" name="Text 15"/>
          <p:cNvSpPr/>
          <p:nvPr/>
        </p:nvSpPr>
        <p:spPr>
          <a:xfrm>
            <a:off x="710946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075420" y="2011680"/>
            <a:ext cx="2651760" cy="1371600"/>
          </a:xfrm>
          <a:prstGeom prst="homePlate">
            <a:avLst/>
          </a:prstGeom>
          <a:solidFill>
            <a:srgbClr val="F9C846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6686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66860" y="2788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o .pptx final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89820" y="3657600"/>
            <a:ext cx="822960" cy="822960"/>
          </a:xfrm>
          <a:prstGeom prst="ellipse">
            <a:avLst/>
          </a:prstGeom>
          <a:solidFill>
            <a:srgbClr val="0A0A1A"/>
          </a:solidFill>
          <a:ln/>
        </p:spPr>
      </p:sp>
      <p:sp>
        <p:nvSpPr>
          <p:cNvPr id="22" name="Text 20"/>
          <p:cNvSpPr/>
          <p:nvPr/>
        </p:nvSpPr>
        <p:spPr>
          <a:xfrm>
            <a:off x="998982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</p:spTree>
  </p:cSld>
  <p:transition spd="med">
    <p:comb dir="horz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00"/>
                      </p:stCondLst>
                      <p:childTnLst>
                        <p:par>
                          <p:cTn id="1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5" dur="5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200"/>
                      </p:stCondLst>
                      <p:childTnLst>
                        <p:par>
                          <p:cTn id="15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0" dur="5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00"/>
                      </p:stCondLst>
                      <p:childTnLst>
                        <p:par>
                          <p:cTn id="16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200"/>
                      </p:stCondLst>
                      <p:childTnLst>
                        <p:par>
                          <p:cTn id="16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0" dur="500" fill="hold"/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1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00"/>
                      </p:stCondLst>
                      <p:childTnLst>
                        <p:par>
                          <p:cTn id="17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5" dur="5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00"/>
                      </p:stCondLst>
                      <p:childTnLst>
                        <p:par>
                          <p:cTn id="17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0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200"/>
                      </p:stCondLst>
                      <p:childTnLst>
                        <p:par>
                          <p:cTn id="18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00"/>
                      </p:stCondLst>
                      <p:childTnLst>
                        <p:par>
                          <p:cTn id="18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0" dur="5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00"/>
                      </p:stCondLst>
                      <p:childTnLst>
                        <p:par>
                          <p:cTn id="19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5" dur="500" fill="hold"/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200"/>
                      </p:stCondLst>
                      <p:childTnLst>
                        <p:par>
                          <p:cTn id="19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0" dur="500" fill="hold"/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1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200"/>
                      </p:stCondLst>
                      <p:childTnLst>
                        <p:par>
                          <p:cTn id="20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5" dur="500" fill="hold"/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lado a lado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0FB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DF1F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macros 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macros ✗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Abre em qualquer lugar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461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Sem alertas de segurança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Totalmente editável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006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Compatível com web e mobile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92240" y="24688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0"/>
          <p:cNvSpPr/>
          <p:nvPr/>
        </p:nvSpPr>
        <p:spPr>
          <a:xfrm>
            <a:off x="64922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99516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Bloqueado por padrão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92240" y="32461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3"/>
          <p:cNvSpPr/>
          <p:nvPr/>
        </p:nvSpPr>
        <p:spPr>
          <a:xfrm>
            <a:off x="64922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99516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Avisos de segurança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92240" y="40233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16"/>
          <p:cNvSpPr/>
          <p:nvPr/>
        </p:nvSpPr>
        <p:spPr>
          <a:xfrm>
            <a:off x="64922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9516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Requer habilitar conteúdo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92240" y="48006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19"/>
          <p:cNvSpPr/>
          <p:nvPr/>
        </p:nvSpPr>
        <p:spPr>
          <a:xfrm>
            <a:off x="649224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99516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Não roda no PowerPoint web</a:t>
            </a:r>
            <a:endParaRPr lang="en-US" sz="1400" dirty="0"/>
          </a:p>
        </p:txBody>
      </p:sp>
    </p:spTree>
  </p:cSld>
  <p:transition spd="med">
    <p:newsflash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200"/>
                      </p:stCondLst>
                      <p:childTnLst>
                        <p:par>
                          <p:cTn id="12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0" dur="5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200"/>
                      </p:stCondLst>
                      <p:childTnLst>
                        <p:par>
                          <p:cTn id="13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5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00"/>
                      </p:stCondLst>
                      <p:childTnLst>
                        <p:par>
                          <p:cTn id="13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0" dur="5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200"/>
                      </p:stCondLst>
                      <p:childTnLst>
                        <p:par>
                          <p:cTn id="14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0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00"/>
                      </p:stCondLst>
                      <p:childTnLst>
                        <p:par>
                          <p:cTn id="15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5" dur="5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200"/>
                      </p:stCondLst>
                      <p:childTnLst>
                        <p:par>
                          <p:cTn id="15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0" dur="5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200"/>
                      </p:stCondLst>
                      <p:childTnLst>
                        <p:par>
                          <p:cTn id="16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200"/>
                      </p:stCondLst>
                      <p:childTnLst>
                        <p:par>
                          <p:cTn id="16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0" dur="500" fill="hold"/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1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00"/>
                      </p:stCondLst>
                      <p:childTnLst>
                        <p:par>
                          <p:cTn id="17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5" dur="5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200"/>
                      </p:stCondLst>
                      <p:childTnLst>
                        <p:par>
                          <p:cTn id="178" presetClass="entr" presetID="2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0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1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200"/>
                      </p:stCondLst>
                      <p:childTnLst>
                        <p:par>
                          <p:cTn id="183" presetClass="entr" presetID="3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00"/>
                      </p:stCondLst>
                      <p:childTnLst>
                        <p:par>
                          <p:cTn id="188" presetClass="entr" presetID="12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0" dur="500" fill="hold"/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1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200"/>
                      </p:stCondLst>
                      <p:childTnLst>
                        <p:par>
                          <p:cTn id="193" presetClass="entr" presetID="5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5" dur="500" fill="hold"/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200"/>
                      </p:stCondLst>
                      <p:childTnLst>
                        <p:par>
                          <p:cTn id="198" presetClass="entr" presetID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0" dur="500" fill="hold"/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1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200"/>
                      </p:stCondLst>
                      <p:childTnLst>
                        <p:par>
                          <p:cTn id="203" presetClass="entr" presetID="1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5" dur="500" fill="hold"/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200"/>
                      </p:stCondLst>
                      <p:childTnLst>
                        <p:par>
                          <p:cTn id="2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0" dur="500" fill="hold"/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200"/>
                      </p:stCondLst>
                      <p:childTnLst>
                        <p:par>
                          <p:cTn id="2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5" dur="500" fill="hold"/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6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200"/>
                      </p:stCondLst>
                      <p:childTnLst>
                        <p:par>
                          <p:cTn id="2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0" dur="500" fill="hold"/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1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200"/>
                      </p:stCondLst>
                      <p:childTnLst>
                        <p:par>
                          <p:cTn id="2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5" dur="500" fill="hold"/>
                                  <p:tgtEl>
                                    <p:spTgt spid="2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 · formas, gráficos, tabelas, imagens, listas, links e notas do apresentador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51960" y="4206240"/>
            <a:ext cx="3657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3891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Dica: abra as notas do apresentador em cada slide.</a:t>
            </a:r>
            <a:endParaRPr lang="en-US" sz="1300" dirty="0"/>
          </a:p>
        </p:txBody>
      </p:sp>
    </p:spTree>
  </p:cSld>
  <p:transition spd="med">
    <p:wheel spokes="4"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presetClass="entr" presetID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5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00"/>
                      </p:stCondLst>
                      <p:childTnLst>
                        <p:par>
                          <p:cTn id="108" presetClass="entr" presetID="1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0" dur="5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1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200"/>
                      </p:stCondLst>
                      <p:childTnLst>
                        <p:par>
                          <p:cTn id="113" presetClass="entr" presetID="2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5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200"/>
                      </p:stCondLst>
                      <p:childTnLst>
                        <p:par>
                          <p:cTn id="118" presetClass="entr" presetID="2" presetSubtype="8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0" dur="5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00"/>
                      </p:stCondLst>
                      <p:childTnLst>
                        <p:par>
                          <p:cTn id="123" presetClass="entr" presetID="4" presetSubtype="16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Showcase de Recursos do PowerPoint</dc:title>
  <dc:subject>Demonstração de recursos do PowerPoint</dc:subject>
  <dc:creator>Claude</dc:creator>
  <cp:lastModifiedBy>Claude</cp:lastModifiedBy>
  <cp:revision>1</cp:revision>
  <dcterms:created xsi:type="dcterms:W3CDTF">2026-06-19T20:31:08Z</dcterms:created>
  <dcterms:modified xsi:type="dcterms:W3CDTF">2026-06-19T20:31:08Z</dcterms:modified>
</cp:coreProperties>
</file>